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8" r:id="rId2"/>
    <p:sldId id="389" r:id="rId3"/>
    <p:sldId id="390" r:id="rId4"/>
    <p:sldId id="410" r:id="rId5"/>
    <p:sldId id="409" r:id="rId6"/>
    <p:sldId id="430" r:id="rId7"/>
    <p:sldId id="411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08" r:id="rId25"/>
    <p:sldId id="406" r:id="rId26"/>
    <p:sldId id="407" r:id="rId2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DBF0E5-3E16-4F16-9F9C-72DD81719155}">
          <p14:sldIdLst>
            <p14:sldId id="258"/>
            <p14:sldId id="389"/>
            <p14:sldId id="390"/>
            <p14:sldId id="410"/>
            <p14:sldId id="409"/>
            <p14:sldId id="430"/>
            <p14:sldId id="411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08"/>
            <p14:sldId id="406"/>
            <p14:sldId id="407"/>
          </p14:sldIdLst>
        </p14:section>
        <p14:section name="Untitled Section" id="{6F3CB948-DBCE-4B70-9604-7FC248C2EC0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ED6CD0-B762-4BA3-B6FD-09A2E0C7B427}" v="1" dt="2026-08-14T04:20:32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172" autoAdjust="0"/>
  </p:normalViewPr>
  <p:slideViewPr>
    <p:cSldViewPr snapToGrid="0">
      <p:cViewPr>
        <p:scale>
          <a:sx n="76" d="100"/>
          <a:sy n="76" d="100"/>
        </p:scale>
        <p:origin x="288" y="28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lakshi Choudhary" userId="0fe7dd237fe3e110" providerId="LiveId" clId="{73BCC1C4-5BBC-47B9-BD17-58B70944491C}"/>
    <pc:docChg chg="modSld">
      <pc:chgData name="Leelakshi Choudhary" userId="0fe7dd237fe3e110" providerId="LiveId" clId="{73BCC1C4-5BBC-47B9-BD17-58B70944491C}" dt="2026-08-14T04:22:44.418" v="117" actId="20577"/>
      <pc:docMkLst>
        <pc:docMk/>
      </pc:docMkLst>
      <pc:sldChg chg="modSp mod">
        <pc:chgData name="Leelakshi Choudhary" userId="0fe7dd237fe3e110" providerId="LiveId" clId="{73BCC1C4-5BBC-47B9-BD17-58B70944491C}" dt="2026-08-14T04:22:18.862" v="92" actId="20577"/>
        <pc:sldMkLst>
          <pc:docMk/>
          <pc:sldMk cId="1957555787" sldId="258"/>
        </pc:sldMkLst>
        <pc:spChg chg="mod">
          <ac:chgData name="Leelakshi Choudhary" userId="0fe7dd237fe3e110" providerId="LiveId" clId="{73BCC1C4-5BBC-47B9-BD17-58B70944491C}" dt="2026-08-14T04:18:49.599" v="6" actId="20577"/>
          <ac:spMkLst>
            <pc:docMk/>
            <pc:sldMk cId="1957555787" sldId="258"/>
            <ac:spMk id="2" creationId="{00000000-0000-0000-0000-000000000000}"/>
          </ac:spMkLst>
        </pc:spChg>
        <pc:spChg chg="mod">
          <ac:chgData name="Leelakshi Choudhary" userId="0fe7dd237fe3e110" providerId="LiveId" clId="{73BCC1C4-5BBC-47B9-BD17-58B70944491C}" dt="2026-08-14T04:22:18.862" v="92" actId="20577"/>
          <ac:spMkLst>
            <pc:docMk/>
            <pc:sldMk cId="1957555787" sldId="258"/>
            <ac:spMk id="6" creationId="{00000000-0000-0000-0000-000000000000}"/>
          </ac:spMkLst>
        </pc:spChg>
        <pc:spChg chg="mod">
          <ac:chgData name="Leelakshi Choudhary" userId="0fe7dd237fe3e110" providerId="LiveId" clId="{73BCC1C4-5BBC-47B9-BD17-58B70944491C}" dt="2026-08-14T04:18:45.939" v="5" actId="20577"/>
          <ac:spMkLst>
            <pc:docMk/>
            <pc:sldMk cId="1957555787" sldId="258"/>
            <ac:spMk id="7" creationId="{00000000-0000-0000-0000-000000000000}"/>
          </ac:spMkLst>
        </pc:spChg>
        <pc:spChg chg="mod">
          <ac:chgData name="Leelakshi Choudhary" userId="0fe7dd237fe3e110" providerId="LiveId" clId="{73BCC1C4-5BBC-47B9-BD17-58B70944491C}" dt="2026-08-14T04:18:59.089" v="21" actId="20577"/>
          <ac:spMkLst>
            <pc:docMk/>
            <pc:sldMk cId="1957555787" sldId="258"/>
            <ac:spMk id="9" creationId="{00000000-0000-0000-0000-000000000000}"/>
          </ac:spMkLst>
        </pc:spChg>
      </pc:sldChg>
      <pc:sldChg chg="modSp mod">
        <pc:chgData name="Leelakshi Choudhary" userId="0fe7dd237fe3e110" providerId="LiveId" clId="{73BCC1C4-5BBC-47B9-BD17-58B70944491C}" dt="2026-08-14T04:21:47.839" v="57" actId="20577"/>
        <pc:sldMkLst>
          <pc:docMk/>
          <pc:sldMk cId="3602055944" sldId="390"/>
        </pc:sldMkLst>
        <pc:spChg chg="mod">
          <ac:chgData name="Leelakshi Choudhary" userId="0fe7dd237fe3e110" providerId="LiveId" clId="{73BCC1C4-5BBC-47B9-BD17-58B70944491C}" dt="2026-08-14T04:21:47.839" v="57" actId="20577"/>
          <ac:spMkLst>
            <pc:docMk/>
            <pc:sldMk cId="3602055944" sldId="390"/>
            <ac:spMk id="4" creationId="{00000000-0000-0000-0000-000000000000}"/>
          </ac:spMkLst>
        </pc:spChg>
        <pc:spChg chg="mod">
          <ac:chgData name="Leelakshi Choudhary" userId="0fe7dd237fe3e110" providerId="LiveId" clId="{73BCC1C4-5BBC-47B9-BD17-58B70944491C}" dt="2026-08-14T04:20:36.345" v="25" actId="20577"/>
          <ac:spMkLst>
            <pc:docMk/>
            <pc:sldMk cId="3602055944" sldId="390"/>
            <ac:spMk id="5" creationId="{0E36D73A-E033-A640-92BC-010416C97E05}"/>
          </ac:spMkLst>
        </pc:spChg>
      </pc:sldChg>
      <pc:sldChg chg="modSp mod">
        <pc:chgData name="Leelakshi Choudhary" userId="0fe7dd237fe3e110" providerId="LiveId" clId="{73BCC1C4-5BBC-47B9-BD17-58B70944491C}" dt="2026-08-14T04:22:44.418" v="117" actId="20577"/>
        <pc:sldMkLst>
          <pc:docMk/>
          <pc:sldMk cId="3249309459" sldId="411"/>
        </pc:sldMkLst>
        <pc:spChg chg="mod">
          <ac:chgData name="Leelakshi Choudhary" userId="0fe7dd237fe3e110" providerId="LiveId" clId="{73BCC1C4-5BBC-47B9-BD17-58B70944491C}" dt="2026-08-14T04:22:37.827" v="108" actId="20577"/>
          <ac:spMkLst>
            <pc:docMk/>
            <pc:sldMk cId="3249309459" sldId="411"/>
            <ac:spMk id="4" creationId="{E97100FF-8A0A-C237-A62D-3E4B4E45D4D9}"/>
          </ac:spMkLst>
        </pc:spChg>
        <pc:spChg chg="mod">
          <ac:chgData name="Leelakshi Choudhary" userId="0fe7dd237fe3e110" providerId="LiveId" clId="{73BCC1C4-5BBC-47B9-BD17-58B70944491C}" dt="2026-08-14T04:22:44.418" v="117" actId="20577"/>
          <ac:spMkLst>
            <pc:docMk/>
            <pc:sldMk cId="3249309459" sldId="411"/>
            <ac:spMk id="7" creationId="{1F486643-8359-BEA3-609E-CD4706F76D2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2AF92E9-027F-4C02-93DA-4F32B304764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7581BC1-9D74-4B93-8B63-0DCA8666D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5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2338-8952-269E-E7F6-C254C55A6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7AC09-94D9-BDFE-6652-F4EBFB677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A55D4-5EE5-9BFC-DF49-C0C4D8A0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A2C0F-234D-9254-8029-5CC78CE5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86676-E218-39A3-C9FE-3C7B4F25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28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8000-95AF-E296-978C-0D65D0AB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73BB-55F3-80A9-B16D-8CDD0F8B9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575C1-7C5E-8D4A-B016-F654239C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E9127-E354-80D3-9C85-365008F4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91B7-DFD0-1172-4A56-45F207B9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13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2985A-5E90-7B21-DA56-7AF0BACC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788CD-E897-C13E-BF3D-AC9CD4C71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385A8-E7EC-1DE0-40C3-1BA3843A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D725-8CA4-2B3A-2959-FF44CB59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32FE2-ED8B-F176-51B2-9964ACE7A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76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98E7-AC18-7D34-0A5C-A19204A8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EC9E-7396-A1FB-ED61-4F75D62D2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AF454-60E1-1892-1DC6-183BBB511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74E2E-271A-F63D-1E46-9CA740A3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C79AE-65B7-940B-8A6F-1048EAEF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C1420-C245-560B-CC6C-4500C5BF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1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F090-ED1C-396F-F86A-3237BF23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4FBCF-F4B5-45D3-2ACE-6F2E7B3AC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667D4-2269-9C25-367F-59D5AA310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67E65-C0B2-1558-5338-0C33971DF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A86EF-7DC0-1937-2CFA-285E6398A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D917E-FD81-FB04-C5DE-8120FE91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6BA8C-96B1-64AE-FB01-A3D23A39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F6342-BCE7-6429-4E1F-4B6029DD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5391-F177-10C4-C5D8-6D107978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BB3A0-E45F-AE89-AAAA-DAE638BF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DF7E6-4F8E-E52D-1105-0C42C194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9ACFF-164F-90CA-0C1D-8CDEBF1A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1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06517-CCF2-42E0-5D5F-3AFBFB67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AA0E0-1A67-CA37-7E61-4B3F5F32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F05B4-4E5B-DBA0-C77C-3DFBB28C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9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94BE-8CCC-34C6-B641-BE80BE23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3A73-F7A2-FB23-1FF3-91DFD9FFE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970CF-E369-0A19-1E8B-38E333999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37C4F-82B8-3C3E-780D-1A47965D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E39F2-F31B-65C4-0FF8-8C602C22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1D10-70AD-0645-1070-85DA365D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06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7348-29D1-4A6C-DFDE-DBC0F528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4D576-FBDF-48C9-0AC4-0D02A9AF9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01160-20B3-09DB-8446-BC92A6434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94566-D492-EAE4-1BD3-8D98025B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3C626-C3C2-5A97-78D9-3CD82221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04FF7-47B3-2E23-CC6A-8E8E4C9A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7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94F2-E91F-01B5-03A4-ED6BA62A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4A955-BDF6-F20D-C94C-DB08982F0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AB5A6-E59D-46D7-DC26-E225420C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34F7F-5691-2BA2-2C0B-C9462B27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C0557-E7BD-5BB4-0157-24A948CB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4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3251D3-0121-6A28-02F9-32CA210EF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2CEE8-D705-8AC1-6C00-DBA7946C3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C42EE-BA50-4663-FE95-C6EA3B788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112FD-5428-CF39-7B6C-7F8A83A0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60F48-F50D-D1A6-F646-35540C2F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01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A38AD-2C6D-2A13-4B4B-23403A5DB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868A8-FDA7-D5AC-FCE4-DD8CF1C03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6E86-07A3-28BC-C7D0-5BB23386C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F026E-D685-4C4E-90D4-AAF4FBF91AD7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C5CD4-DF64-E672-5616-019ADC902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BCBA-CABA-F658-0B8C-9F6472F16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B5277-B096-4967-B948-0423FD80D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11836" y="4698185"/>
            <a:ext cx="3398293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By: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Name:-Leelakshi Choudhary</a:t>
            </a: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Roll No.:- 24ESKCS192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17219" y="1374826"/>
            <a:ext cx="313470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Training</a:t>
            </a:r>
          </a:p>
          <a:p>
            <a:pPr algn="ctr"/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kit.ac.in/images/headers/skit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125277" y="314579"/>
            <a:ext cx="1037978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Swami Keshvanand Institute of Technology, Management &amp;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Gramothan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Jaipur</a:t>
            </a:r>
          </a:p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Institute Affiliated to Rajasthan Technical University, Kota)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473" y="4698185"/>
            <a:ext cx="3398293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To: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Name:- Dr. Meenakshi Nawal</a:t>
            </a:r>
          </a:p>
          <a:p>
            <a:pPr algn="just">
              <a:spcAft>
                <a:spcPts val="800"/>
              </a:spcAft>
            </a:pP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Associate Professor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6321" y="2681296"/>
            <a:ext cx="4899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u="sng" dirty="0" err="1">
                <a:solidFill>
                  <a:srgbClr val="0F0F0F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TOPIC:ClassBoard</a:t>
            </a:r>
            <a:endParaRPr lang="en-US" sz="3600" b="1" i="1" u="sng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s://www.skit.ac.in/images/headers/swamiji_phot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0907" y="174677"/>
            <a:ext cx="739222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55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408573" y="979040"/>
            <a:ext cx="692427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Project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53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Company </a:t>
            </a:r>
            <a:r>
              <a:rPr lang="en-IN" sz="3200" b="1" dirty="0"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Overview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3" name="Picture 2" descr="https://www.skit.ac.in/images/headers/skit_logo.png">
            <a:extLst>
              <a:ext uri="{FF2B5EF4-FFF2-40B4-BE49-F238E27FC236}">
                <a16:creationId xmlns:a16="http://schemas.microsoft.com/office/drawing/2014/main" id="{4D6B58DE-D5B3-A843-94E5-84337CC85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36D73A-E033-A640-92BC-010416C97E05}"/>
              </a:ext>
            </a:extLst>
          </p:cNvPr>
          <p:cNvSpPr txBox="1"/>
          <p:nvPr/>
        </p:nvSpPr>
        <p:spPr>
          <a:xfrm>
            <a:off x="2260978" y="1212512"/>
            <a:ext cx="941726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/>
              <a:t>InternPe</a:t>
            </a:r>
            <a:r>
              <a:rPr lang="en-IN" sz="2000" dirty="0"/>
              <a:t>, is a fast-growing platform dedicated to providing </a:t>
            </a:r>
            <a:r>
              <a:rPr lang="en-IN" sz="2000" b="1" dirty="0"/>
              <a:t>job opportunities, internships, and placement support</a:t>
            </a:r>
            <a:r>
              <a:rPr lang="en-IN" sz="2000" dirty="0"/>
              <a:t> to college and university students across India. With its office located at </a:t>
            </a:r>
            <a:r>
              <a:rPr lang="en-IN" sz="2000" b="1" dirty="0"/>
              <a:t>New Sanganer Road, Sanganer, Maruti Nagar, Jaipur, Rajasthan – 302029</a:t>
            </a:r>
            <a:r>
              <a:rPr lang="en-IN" sz="2000" dirty="0"/>
              <a:t>, </a:t>
            </a:r>
            <a:r>
              <a:rPr lang="en-IN" sz="2000" dirty="0" err="1"/>
              <a:t>InternPe</a:t>
            </a:r>
            <a:r>
              <a:rPr lang="en-IN" sz="2000" dirty="0"/>
              <a:t> focuses on bridging the gap between </a:t>
            </a:r>
            <a:r>
              <a:rPr lang="en-IN" sz="2000" b="1" dirty="0"/>
              <a:t>academic learning and industry requirements</a:t>
            </a:r>
            <a:r>
              <a:rPr lang="en-IN" sz="2000" dirty="0"/>
              <a:t>. The platform empowers students with </a:t>
            </a:r>
            <a:r>
              <a:rPr lang="en-IN" sz="2000" b="1" dirty="0"/>
              <a:t>real-world exposure, practical experience, and career-ready skills</a:t>
            </a:r>
            <a:r>
              <a:rPr lang="en-IN" sz="2000" dirty="0"/>
              <a:t>. Registered under </a:t>
            </a:r>
            <a:r>
              <a:rPr lang="en-IN" sz="2000" b="1" dirty="0"/>
              <a:t>MSME (UDYAM-RJ-17-0195598)</a:t>
            </a:r>
            <a:r>
              <a:rPr lang="en-IN" sz="2000" dirty="0"/>
              <a:t>, </a:t>
            </a:r>
            <a:r>
              <a:rPr lang="en-IN" sz="2000" dirty="0" err="1"/>
              <a:t>InternPe</a:t>
            </a:r>
            <a:r>
              <a:rPr lang="en-IN" sz="2000" dirty="0"/>
              <a:t> is owned and managed by </a:t>
            </a:r>
            <a:r>
              <a:rPr lang="en-IN" sz="2000" b="1" dirty="0"/>
              <a:t>Latesh Bansal</a:t>
            </a:r>
            <a:r>
              <a:rPr lang="en-IN" sz="2000" dirty="0"/>
              <a:t>, who leads the organization with a vision to make quality career opportunities accessible to students across India. At </a:t>
            </a:r>
            <a:r>
              <a:rPr lang="en-IN" sz="2000" dirty="0" err="1"/>
              <a:t>InternPe</a:t>
            </a:r>
            <a:r>
              <a:rPr lang="en-IN" sz="2000" dirty="0"/>
              <a:t>, the focus is on </a:t>
            </a:r>
            <a:r>
              <a:rPr lang="en-IN" sz="2000" b="1" dirty="0"/>
              <a:t>shaping students' careers by connecting young talent with the right opportunities and professional growth</a:t>
            </a:r>
            <a:r>
              <a:rPr lang="en-IN" sz="2000" dirty="0"/>
              <a:t>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02055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FDFB7-CEDE-6E1B-BADE-7121C544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6D51D6-6A2A-4E6E-9B85-E773D28CB6E6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Objectives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EB3F1-3C4E-7528-5103-A84936DCAC21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E278EB15-C623-9050-7C86-2163130AE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51" y="112764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300B82-6659-1CC4-2098-D8975428F532}"/>
              </a:ext>
            </a:extLst>
          </p:cNvPr>
          <p:cNvSpPr txBox="1"/>
          <p:nvPr/>
        </p:nvSpPr>
        <p:spPr>
          <a:xfrm>
            <a:off x="2260980" y="1172817"/>
            <a:ext cx="938437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600" dirty="0"/>
              <a:t>To design and build a </a:t>
            </a:r>
            <a:r>
              <a:rPr lang="en-GB" sz="2600" b="1" dirty="0"/>
              <a:t>role-based full-stack platform</a:t>
            </a:r>
            <a:r>
              <a:rPr lang="en-GB" sz="2600" dirty="0"/>
              <a:t> for Admin, Teacher, and Student users using the MERN stack (MongoDB, Express.js, React.js, Node.js).</a:t>
            </a:r>
          </a:p>
          <a:p>
            <a:pPr marL="342900" indent="-342900">
              <a:buAutoNum type="arabicPeriod"/>
            </a:pPr>
            <a:r>
              <a:rPr lang="en-GB" sz="2600" dirty="0"/>
              <a:t>To implement </a:t>
            </a:r>
            <a:r>
              <a:rPr lang="en-GB" sz="2600" b="1" dirty="0"/>
              <a:t>secure authentication and authorization</a:t>
            </a:r>
            <a:r>
              <a:rPr lang="en-GB" sz="2600" dirty="0"/>
              <a:t> using JWT and bcrypt.js, with protected routes for each role.</a:t>
            </a:r>
          </a:p>
          <a:p>
            <a:pPr marL="342900" indent="-342900">
              <a:buAutoNum type="arabicPeriod"/>
            </a:pPr>
            <a:r>
              <a:rPr lang="en-GB" sz="2600" b="1" dirty="0"/>
              <a:t>To build core academic modules</a:t>
            </a:r>
            <a:r>
              <a:rPr lang="en-GB" sz="2600" dirty="0"/>
              <a:t> — departments, courses, timetables, attendance, assignments, study materials, and grades.</a:t>
            </a:r>
          </a:p>
          <a:p>
            <a:pPr marL="342900" indent="-342900">
              <a:buAutoNum type="arabicPeriod"/>
            </a:pPr>
            <a:r>
              <a:rPr lang="en-GB" sz="2600" dirty="0"/>
              <a:t>To design a </a:t>
            </a:r>
            <a:r>
              <a:rPr lang="en-GB" sz="2600" b="1" dirty="0"/>
              <a:t>clean, responsive UI</a:t>
            </a:r>
            <a:r>
              <a:rPr lang="en-GB" sz="2600" dirty="0"/>
              <a:t> with Tailwind CSS and REST APIs connecting the frontend and backend cleanly.</a:t>
            </a:r>
          </a:p>
          <a:p>
            <a:pPr marL="342900" indent="-342900">
              <a:buAutoNum type="arabicPeriod"/>
            </a:pPr>
            <a:r>
              <a:rPr lang="en-GB" sz="2600" b="1" dirty="0"/>
              <a:t>To gain hands-on experience</a:t>
            </a:r>
            <a:r>
              <a:rPr lang="en-GB" sz="2600" dirty="0"/>
              <a:t> with real-world software practices — Git version control, API testing, and deployment workflows.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52367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49B3-C620-60B7-7A55-68C2748E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58A8D1-50D1-A249-164F-D6FF66E1201C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Used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A2519D-2211-7367-0DBF-5BF0C8F89E85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D94F37D1-B53D-27DA-F96D-EA9F9F1C0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43" y="124980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C70ABAE-D0C8-25D7-E711-CB7CF3A69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641" y="1047825"/>
            <a:ext cx="1071815" cy="95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FAD7BF5-58D7-F506-E49B-7B582D570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137" y="990855"/>
            <a:ext cx="967813" cy="95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88A9BC2-DD3B-5462-91BD-66CF48395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428" y="1116028"/>
            <a:ext cx="1281971" cy="78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8" descr="daisyUI Logo — daisyUI Tailwind CSS Component UI Library">
            <a:extLst>
              <a:ext uri="{FF2B5EF4-FFF2-40B4-BE49-F238E27FC236}">
                <a16:creationId xmlns:a16="http://schemas.microsoft.com/office/drawing/2014/main" id="{8B91B5EB-2736-571B-39F7-7DEBF4A0A4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75559" y="13619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10" descr="daisyUI Logo — daisyUI Tailwind CSS Component UI Library">
            <a:extLst>
              <a:ext uri="{FF2B5EF4-FFF2-40B4-BE49-F238E27FC236}">
                <a16:creationId xmlns:a16="http://schemas.microsoft.com/office/drawing/2014/main" id="{4A9B34ED-96E6-24B2-DEA0-59F1F32CB5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2" descr="daisyUI Logo — daisyUI Tailwind CSS Component UI Library">
            <a:extLst>
              <a:ext uri="{FF2B5EF4-FFF2-40B4-BE49-F238E27FC236}">
                <a16:creationId xmlns:a16="http://schemas.microsoft.com/office/drawing/2014/main" id="{DB0F21D2-FFDB-BD8A-8787-51168BE029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4" descr="daisyUI Logo — daisyUI Tailwind CSS Component UI Library">
            <a:extLst>
              <a:ext uri="{FF2B5EF4-FFF2-40B4-BE49-F238E27FC236}">
                <a16:creationId xmlns:a16="http://schemas.microsoft.com/office/drawing/2014/main" id="{E758A143-16EB-C497-202D-6FF9575409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1757" y="1944757"/>
            <a:ext cx="2093843" cy="2093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6" descr="Redux SVG and transparent PNG icons | TechIcons">
            <a:extLst>
              <a:ext uri="{FF2B5EF4-FFF2-40B4-BE49-F238E27FC236}">
                <a16:creationId xmlns:a16="http://schemas.microsoft.com/office/drawing/2014/main" id="{6DBD30F9-0933-4433-AEC8-435C426CA4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18" descr="daisyUI Logo — daisyUI Tailwind CSS Component UI Library">
            <a:extLst>
              <a:ext uri="{FF2B5EF4-FFF2-40B4-BE49-F238E27FC236}">
                <a16:creationId xmlns:a16="http://schemas.microsoft.com/office/drawing/2014/main" id="{D05C477D-07F1-0969-DABA-A812FAD49F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8026" y="921026"/>
            <a:ext cx="3269974" cy="326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D6D40B3-0FF6-C386-5B78-00D2BC428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3009" y="964486"/>
            <a:ext cx="3869285" cy="1404459"/>
          </a:xfrm>
          <a:prstGeom prst="rect">
            <a:avLst/>
          </a:prstGeom>
        </p:spPr>
      </p:pic>
      <p:sp>
        <p:nvSpPr>
          <p:cNvPr id="14" name="AutoShape 20" descr="Redux SVG and transparent PNG icons | TechIcons">
            <a:extLst>
              <a:ext uri="{FF2B5EF4-FFF2-40B4-BE49-F238E27FC236}">
                <a16:creationId xmlns:a16="http://schemas.microsoft.com/office/drawing/2014/main" id="{80EB213B-82EF-0339-9E54-2DC9EBB444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0EEEBE7-ED86-51E0-4492-6B92087EAC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3500" y="985523"/>
            <a:ext cx="1057586" cy="1057586"/>
          </a:xfrm>
          <a:prstGeom prst="rect">
            <a:avLst/>
          </a:prstGeom>
        </p:spPr>
      </p:pic>
      <p:pic>
        <p:nvPicPr>
          <p:cNvPr id="18" name="Picture 17" descr="A group of logos on a black background&#10;&#10;AI-generated content may be incorrect.">
            <a:extLst>
              <a:ext uri="{FF2B5EF4-FFF2-40B4-BE49-F238E27FC236}">
                <a16:creationId xmlns:a16="http://schemas.microsoft.com/office/drawing/2014/main" id="{6D6E773F-E6D4-95F7-F8FE-5AE2BCB44A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492" y="2281282"/>
            <a:ext cx="2371458" cy="145251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2505DFF-70AF-883E-8291-DB275F633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6741" y="2153441"/>
            <a:ext cx="1580359" cy="1580359"/>
          </a:xfrm>
          <a:prstGeom prst="rect">
            <a:avLst/>
          </a:prstGeom>
        </p:spPr>
      </p:pic>
      <p:pic>
        <p:nvPicPr>
          <p:cNvPr id="22" name="Picture 2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F99BA41F-967E-A603-1D48-CBEF3CCADA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732" y="2296999"/>
            <a:ext cx="3912453" cy="1057585"/>
          </a:xfrm>
          <a:prstGeom prst="rect">
            <a:avLst/>
          </a:prstGeom>
        </p:spPr>
      </p:pic>
      <p:pic>
        <p:nvPicPr>
          <p:cNvPr id="24" name="Picture 23" descr="A black and white logo&#10;&#10;AI-generated content may be incorrect.">
            <a:extLst>
              <a:ext uri="{FF2B5EF4-FFF2-40B4-BE49-F238E27FC236}">
                <a16:creationId xmlns:a16="http://schemas.microsoft.com/office/drawing/2014/main" id="{D89BD89B-9F3A-6DA1-5403-FBD654AC6E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245" y="4906365"/>
            <a:ext cx="1392475" cy="1392475"/>
          </a:xfrm>
          <a:prstGeom prst="rect">
            <a:avLst/>
          </a:prstGeom>
        </p:spPr>
      </p:pic>
      <p:pic>
        <p:nvPicPr>
          <p:cNvPr id="26" name="Picture 25" descr="A shield with text on it&#10;&#10;AI-generated content may be incorrect.">
            <a:extLst>
              <a:ext uri="{FF2B5EF4-FFF2-40B4-BE49-F238E27FC236}">
                <a16:creationId xmlns:a16="http://schemas.microsoft.com/office/drawing/2014/main" id="{0F92F167-E6C9-5D30-F1DB-F7EBCFBEC9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400" y="4074552"/>
            <a:ext cx="1718137" cy="171813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0640FAC-D580-2112-0881-03D069600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33494" y="3581400"/>
            <a:ext cx="1608800" cy="1608800"/>
          </a:xfrm>
          <a:prstGeom prst="rect">
            <a:avLst/>
          </a:prstGeom>
        </p:spPr>
      </p:pic>
      <p:pic>
        <p:nvPicPr>
          <p:cNvPr id="30" name="Picture 29" descr="A logo with colorful lines&#10;&#10;AI-generated content may be incorrect.">
            <a:extLst>
              <a:ext uri="{FF2B5EF4-FFF2-40B4-BE49-F238E27FC236}">
                <a16:creationId xmlns:a16="http://schemas.microsoft.com/office/drawing/2014/main" id="{2326947C-C21D-48AC-8E3C-73FCAB6AEE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16" b="31869"/>
          <a:stretch>
            <a:fillRect/>
          </a:stretch>
        </p:blipFill>
        <p:spPr>
          <a:xfrm>
            <a:off x="4563855" y="3823881"/>
            <a:ext cx="3027231" cy="1111459"/>
          </a:xfrm>
          <a:prstGeom prst="rect">
            <a:avLst/>
          </a:prstGeom>
        </p:spPr>
      </p:pic>
      <p:pic>
        <p:nvPicPr>
          <p:cNvPr id="32" name="Picture 31" descr="A black and white cat logo&#10;&#10;AI-generated content may be incorrect.">
            <a:extLst>
              <a:ext uri="{FF2B5EF4-FFF2-40B4-BE49-F238E27FC236}">
                <a16:creationId xmlns:a16="http://schemas.microsoft.com/office/drawing/2014/main" id="{3583C998-5E2B-75D1-7E34-A0077BB362C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"/>
          <a:stretch>
            <a:fillRect/>
          </a:stretch>
        </p:blipFill>
        <p:spPr>
          <a:xfrm>
            <a:off x="7739659" y="3625665"/>
            <a:ext cx="1953308" cy="17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6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FDFB7-CEDE-6E1B-BADE-7121C544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6D51D6-6A2A-4E6E-9B85-E773D28CB6E6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Key Features</a:t>
            </a:r>
            <a:endParaRPr lang="en-IN" sz="3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EB3F1-3C4E-7528-5103-A84936DCAC21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E278EB15-C623-9050-7C86-2163130AE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51" y="112764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300B82-6659-1CC4-2098-D8975428F532}"/>
              </a:ext>
            </a:extLst>
          </p:cNvPr>
          <p:cNvSpPr txBox="1"/>
          <p:nvPr/>
        </p:nvSpPr>
        <p:spPr>
          <a:xfrm>
            <a:off x="2260980" y="1172817"/>
            <a:ext cx="938437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600" b="1" dirty="0"/>
              <a:t>Role-based dashboards</a:t>
            </a:r>
            <a:r>
              <a:rPr lang="en-GB" sz="2600" dirty="0"/>
              <a:t> — separate, tailored views for Admin, Teacher, and Student.</a:t>
            </a:r>
          </a:p>
          <a:p>
            <a:pPr marL="342900" indent="-342900">
              <a:buAutoNum type="arabicPeriod"/>
            </a:pPr>
            <a:r>
              <a:rPr lang="en-GB" sz="2600" b="1" dirty="0"/>
              <a:t>Academic management</a:t>
            </a:r>
            <a:r>
              <a:rPr lang="en-GB" sz="2600" dirty="0"/>
              <a:t> — departments, courses, subjects, academic years, semesters, sections, and classes.</a:t>
            </a:r>
          </a:p>
          <a:p>
            <a:pPr marL="342900" indent="-342900">
              <a:buAutoNum type="arabicPeriod"/>
            </a:pPr>
            <a:r>
              <a:rPr lang="en-GB" sz="2600" b="1" dirty="0"/>
              <a:t>Timetable &amp; attendance</a:t>
            </a:r>
            <a:r>
              <a:rPr lang="en-GB" sz="2600" dirty="0"/>
              <a:t> — weekly class schedules and attendance tracking per section.</a:t>
            </a:r>
          </a:p>
          <a:p>
            <a:pPr marL="342900" indent="-342900">
              <a:buAutoNum type="arabicPeriod"/>
            </a:pPr>
            <a:r>
              <a:rPr lang="en-GB" sz="2600" b="1" dirty="0"/>
              <a:t>Assignments &amp; study materials</a:t>
            </a:r>
            <a:r>
              <a:rPr lang="en-GB" sz="2600" dirty="0"/>
              <a:t> — teachers upload materials and assignments; students submit and get graded.</a:t>
            </a:r>
          </a:p>
          <a:p>
            <a:pPr marL="342900" indent="-342900">
              <a:buAutoNum type="arabicPeriod"/>
            </a:pPr>
            <a:r>
              <a:rPr lang="en-GB" sz="2600" b="1" dirty="0"/>
              <a:t>Announcements &amp; reports</a:t>
            </a:r>
            <a:r>
              <a:rPr lang="en-GB" sz="2600" dirty="0"/>
              <a:t> — role-targeted announcements and exportable attendance/grade reports.</a:t>
            </a:r>
          </a:p>
          <a:p>
            <a:pPr marL="342900" indent="-342900">
              <a:buAutoNum type="arabicPeriod"/>
            </a:pPr>
            <a:r>
              <a:rPr lang="en-GB" sz="2600" b="1" dirty="0"/>
              <a:t>Secure authentication</a:t>
            </a:r>
            <a:r>
              <a:rPr lang="en-GB" sz="2600" dirty="0"/>
              <a:t> — JWT-based login/signup with bcrypt password hashing and protected routes.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523679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B7893-3E2C-B185-888B-449DC539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7100FF-8A0A-C237-A62D-3E4B4E45D4D9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dirty="0" err="1"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ClassBoard</a:t>
            </a:r>
            <a:r>
              <a:rPr lang="en-IN" sz="3200" b="1" dirty="0"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Overview</a:t>
            </a:r>
            <a:endParaRPr lang="en-IN" sz="3200" b="1" dirty="0"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234DDB-B4EB-2216-FBF7-0DBB2EA7A4E7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FA554481-8DAC-224D-D2FE-623BE3CE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486643-8359-BEA3-609E-CD4706F76D20}"/>
              </a:ext>
            </a:extLst>
          </p:cNvPr>
          <p:cNvSpPr/>
          <p:nvPr/>
        </p:nvSpPr>
        <p:spPr>
          <a:xfrm>
            <a:off x="2260980" y="1272209"/>
            <a:ext cx="930816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b="1" dirty="0" err="1"/>
              <a:t>ClassBoard</a:t>
            </a:r>
            <a:r>
              <a:rPr lang="en-GB" sz="2200" dirty="0"/>
              <a:t> is a role-based college management platform covering the full academic workflow — from department setup to attendance and grading.</a:t>
            </a:r>
            <a:br>
              <a:rPr lang="en-GB" sz="2200" dirty="0"/>
            </a:br>
            <a:r>
              <a:rPr lang="en-GB" sz="2200" dirty="0"/>
              <a:t>Admins manage departments, courses, subjects, sections, teachers, students, and the weekly timetable — all from one dashboard.</a:t>
            </a:r>
            <a:br>
              <a:rPr lang="en-GB" sz="2200" dirty="0"/>
            </a:br>
            <a:r>
              <a:rPr lang="en-GB" sz="2200" dirty="0"/>
              <a:t>Teachers manage their classes, upload study materials and assignments, grade submissions, and mark attendance.</a:t>
            </a:r>
            <a:br>
              <a:rPr lang="en-GB" sz="2200" dirty="0"/>
            </a:br>
            <a:r>
              <a:rPr lang="en-GB" sz="2200" dirty="0"/>
              <a:t>Students view their timetable, download study materials, submit assignments, track attendance, and check grades.</a:t>
            </a:r>
            <a:br>
              <a:rPr lang="en-GB" sz="2200" dirty="0"/>
            </a:br>
            <a:r>
              <a:rPr lang="en-GB" sz="2200" b="1" dirty="0"/>
              <a:t>Built with the MERN stack</a:t>
            </a:r>
            <a:r>
              <a:rPr lang="en-GB" sz="2200" dirty="0"/>
              <a:t>, the platform uses JWT + bcrypt.js for secure authentication and a clean, responsive Tailwind CSS interface.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30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Login Page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Register Page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Admin Dashboard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Manage Students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Manage Teachers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Timetable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Announcements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Reports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Teacher Dashboard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My Classes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Assignments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Attendance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Student Dashboard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Study Materials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Grades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EEE-030F-2E89-855E-F723886D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63AD9-AAEB-CC31-B39A-853D4554CB6A}"/>
              </a:ext>
            </a:extLst>
          </p:cNvPr>
          <p:cNvSpPr txBox="1"/>
          <p:nvPr/>
        </p:nvSpPr>
        <p:spPr>
          <a:xfrm>
            <a:off x="4601817" y="327991"/>
            <a:ext cx="4065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3000">
                <a:latin typeface="Algerian" panose="04020705040A02060702" pitchFamily="82" charset="0"/>
              </a:rPr>
              <a:t>Profile</a:t>
            </a:r>
            <a:endParaRPr lang="en-IN" sz="300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778D8-690A-F461-FA2C-F8972509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56" y="1265695"/>
            <a:ext cx="8947688" cy="55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9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BED9-28E5-221C-6A64-6432421D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DF50DB-0302-5301-00BD-58A237AE7812}"/>
              </a:ext>
            </a:extLst>
          </p:cNvPr>
          <p:cNvSpPr/>
          <p:nvPr/>
        </p:nvSpPr>
        <p:spPr>
          <a:xfrm>
            <a:off x="2260979" y="218308"/>
            <a:ext cx="9417269" cy="661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>
              <a:defRPr/>
            </a:pPr>
            <a:r>
              <a:rPr lang="en-IN" sz="32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Future Scope</a:t>
            </a:r>
            <a:endParaRPr lang="en-IN" sz="2200" b="1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41C461-C82B-5E14-F923-9892FAF1227E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3" name="Picture 2" descr="https://www.skit.ac.in/images/headers/skit_logo.png">
            <a:extLst>
              <a:ext uri="{FF2B5EF4-FFF2-40B4-BE49-F238E27FC236}">
                <a16:creationId xmlns:a16="http://schemas.microsoft.com/office/drawing/2014/main" id="{9BFA1B7A-D591-B83A-A173-1D09E18AE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20219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8AE59E-FC7D-60FA-03A8-649C4BA1D713}"/>
              </a:ext>
            </a:extLst>
          </p:cNvPr>
          <p:cNvSpPr txBox="1"/>
          <p:nvPr/>
        </p:nvSpPr>
        <p:spPr>
          <a:xfrm>
            <a:off x="2260979" y="1220370"/>
            <a:ext cx="941726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/>
              <a:t>1. Real-time notifications and chat between teachers and students.</a:t>
            </a:r>
            <a:br>
              <a:rPr lang="en-GB" sz="2200" dirty="0"/>
            </a:br>
            <a:endParaRPr lang="en-GB" sz="2200" dirty="0"/>
          </a:p>
          <a:p>
            <a:r>
              <a:rPr lang="en-GB" sz="2200" b="1" dirty="0"/>
              <a:t>2. Mobile app version using React Native for on-the-go access.</a:t>
            </a:r>
            <a:br>
              <a:rPr lang="en-GB" sz="2200" dirty="0"/>
            </a:br>
            <a:br>
              <a:rPr lang="en-GB" sz="2200" dirty="0"/>
            </a:br>
            <a:r>
              <a:rPr lang="en-GB" sz="2200" b="1" dirty="0"/>
              <a:t>3. Online exam and quiz module with auto-grading.</a:t>
            </a:r>
            <a:br>
              <a:rPr lang="en-GB" sz="2200" dirty="0"/>
            </a:br>
            <a:br>
              <a:rPr lang="en-GB" sz="2200" dirty="0"/>
            </a:br>
            <a:r>
              <a:rPr lang="en-GB" sz="2200" b="1" dirty="0"/>
              <a:t>4. Fee management and payment gateway integration.</a:t>
            </a:r>
            <a:br>
              <a:rPr lang="en-GB" sz="2200" dirty="0"/>
            </a:br>
            <a:br>
              <a:rPr lang="en-GB" sz="2200" dirty="0"/>
            </a:br>
            <a:r>
              <a:rPr lang="en-GB" sz="2200" b="1" dirty="0"/>
              <a:t>5. Analytics dashboard for performance and attendance trends.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966830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572F-75C8-51C7-2D23-317B1FAD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1060B-24A3-C8C4-4B2C-9D182C6241E4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22935292-DBAA-A732-7359-C62E1454E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5686E3-C3CA-7DEE-85F2-6C9F068CE54C}"/>
              </a:ext>
            </a:extLst>
          </p:cNvPr>
          <p:cNvSpPr txBox="1"/>
          <p:nvPr/>
        </p:nvSpPr>
        <p:spPr>
          <a:xfrm>
            <a:off x="4790661" y="2355573"/>
            <a:ext cx="2753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rgbClr val="C00000"/>
                </a:solidFill>
                <a:latin typeface="Aptos" panose="020B0004020202020204" pitchFamily="34" charset="0"/>
              </a:rPr>
              <a:t>Q &amp; A </a:t>
            </a:r>
            <a:endParaRPr lang="en-IN" sz="7200" b="1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775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4EDE-4C81-BC05-F776-C1224477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69C023-8F6B-49AB-C8BA-1680CC1F02EE}"/>
              </a:ext>
            </a:extLst>
          </p:cNvPr>
          <p:cNvSpPr/>
          <p:nvPr/>
        </p:nvSpPr>
        <p:spPr>
          <a:xfrm>
            <a:off x="0" y="6615113"/>
            <a:ext cx="12192000" cy="2301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/>
            <a:r>
              <a:rPr lang="en-US" altLang="en-US" sz="1200" b="1" dirty="0">
                <a:solidFill>
                  <a:schemeClr val="bg1"/>
                </a:solidFill>
                <a:latin typeface="Calibri" pitchFamily="34" charset="0"/>
              </a:rPr>
              <a:t>SKIT, JAIPUR										                                              www.skit.ac.in</a:t>
            </a:r>
          </a:p>
        </p:txBody>
      </p:sp>
      <p:pic>
        <p:nvPicPr>
          <p:cNvPr id="6" name="Picture 2" descr="https://www.skit.ac.in/images/headers/skit_logo.png">
            <a:extLst>
              <a:ext uri="{FF2B5EF4-FFF2-40B4-BE49-F238E27FC236}">
                <a16:creationId xmlns:a16="http://schemas.microsoft.com/office/drawing/2014/main" id="{9073AF53-46D8-C7B7-2953-08CE8E6BF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3" y="174676"/>
            <a:ext cx="1133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A2E62B-1203-8231-4DD3-FDAFDC5687F6}"/>
              </a:ext>
            </a:extLst>
          </p:cNvPr>
          <p:cNvSpPr txBox="1"/>
          <p:nvPr/>
        </p:nvSpPr>
        <p:spPr>
          <a:xfrm>
            <a:off x="3995530" y="2315817"/>
            <a:ext cx="4611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rgbClr val="C00000"/>
                </a:solidFill>
                <a:latin typeface="Aptos" panose="020B0004020202020204" pitchFamily="34" charset="0"/>
              </a:rPr>
              <a:t>Thank You</a:t>
            </a:r>
            <a:endParaRPr lang="en-IN" sz="7200" b="1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67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75201</TotalTime>
  <Words>807</Words>
  <Application>Microsoft Office PowerPoint</Application>
  <PresentationFormat>Widescreen</PresentationFormat>
  <Paragraphs>76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Algerian</vt:lpstr>
      <vt:lpstr>Aptos</vt:lpstr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Subodh Srivastava</dc:creator>
  <cp:lastModifiedBy>Leelakshi Choudhary</cp:lastModifiedBy>
  <cp:revision>256</cp:revision>
  <dcterms:created xsi:type="dcterms:W3CDTF">2022-05-04T15:19:53Z</dcterms:created>
  <dcterms:modified xsi:type="dcterms:W3CDTF">2026-08-14T04:22:48Z</dcterms:modified>
</cp:coreProperties>
</file>