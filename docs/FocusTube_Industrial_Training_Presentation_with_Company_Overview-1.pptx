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jp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72" r:id="rId23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jp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jp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jpg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"/>
            <a:ext cx="11247120" cy="347472"/>
          </a:xfrm>
          <a:prstGeom prst="rect">
            <a:avLst/>
          </a:prstGeom>
          <a:noFill/>
        </p:spPr>
        <p:txBody>
          <a:bodyPr wrap="square" lIns="73152" rIns="73152">
            <a:spAutoFit/>
          </a:bodyPr>
          <a:lstStyle/>
          <a:p>
            <a:pPr algn="ctr">
              <a:defRPr sz="2000" b="1">
                <a:solidFill>
                  <a:srgbClr val="9B0000"/>
                </a:solidFill>
                <a:latin typeface="Georgia"/>
              </a:defRPr>
            </a:pPr>
            <a:r>
              <a:t>Swami Keshvanand Institute of Technology, Management &amp; Gramothan, Jaipur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594360"/>
            <a:ext cx="11247120" cy="274320"/>
          </a:xfrm>
          <a:prstGeom prst="rect">
            <a:avLst/>
          </a:prstGeom>
          <a:noFill/>
        </p:spPr>
        <p:txBody>
          <a:bodyPr wrap="square" lIns="73152" rIns="73152">
            <a:spAutoFit/>
          </a:bodyPr>
          <a:lstStyle/>
          <a:p>
            <a:pPr algn="ctr">
              <a:defRPr sz="1300" b="0">
                <a:solidFill>
                  <a:srgbClr val="9B0000"/>
                </a:solidFill>
                <a:latin typeface="Georgia"/>
              </a:defRPr>
            </a:pPr>
            <a:r>
              <a:t>(An Autonomous Institute Affiliated to Rajasthan Technical University, Kota)</a:t>
            </a:r>
          </a:p>
        </p:txBody>
      </p:sp>
      <p:sp>
        <p:nvSpPr>
          <p:cNvPr id="4" name="Rectangle 3"/>
          <p:cNvSpPr/>
          <p:nvPr/>
        </p:nvSpPr>
        <p:spPr>
          <a:xfrm>
            <a:off x="502920" y="987552"/>
            <a:ext cx="11155680" cy="32004"/>
          </a:xfrm>
          <a:prstGeom prst="rect">
            <a:avLst/>
          </a:prstGeom>
          <a:solidFill>
            <a:srgbClr val="BE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828800" y="1325880"/>
            <a:ext cx="8503920" cy="1005840"/>
          </a:xfrm>
          <a:prstGeom prst="rect">
            <a:avLst/>
          </a:prstGeom>
          <a:noFill/>
        </p:spPr>
        <p:txBody>
          <a:bodyPr wrap="square" lIns="73152" rIns="73152">
            <a:spAutoFit/>
          </a:bodyPr>
          <a:lstStyle/>
          <a:p>
            <a:pPr algn="ctr">
              <a:defRPr sz="2800" b="1">
                <a:solidFill>
                  <a:srgbClr val="232323"/>
                </a:solidFill>
                <a:latin typeface="Georgia"/>
              </a:defRPr>
            </a:pPr>
            <a:r>
              <a:t>Industrial Training</a:t>
            </a:r>
            <a:br/>
            <a:r>
              <a:t>Presentation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371600" y="2606040"/>
            <a:ext cx="9418320" cy="685800"/>
          </a:xfrm>
          <a:prstGeom prst="rect">
            <a:avLst/>
          </a:prstGeom>
          <a:noFill/>
        </p:spPr>
        <p:txBody>
          <a:bodyPr wrap="square" lIns="73152" rIns="73152">
            <a:spAutoFit/>
          </a:bodyPr>
          <a:lstStyle/>
          <a:p>
            <a:pPr algn="ctr">
              <a:defRPr sz="3400" b="1">
                <a:solidFill>
                  <a:srgbClr val="232323"/>
                </a:solidFill>
                <a:latin typeface="Arial"/>
              </a:defRPr>
            </a:pPr>
            <a:r>
              <a:t>TOPIC: FocusTube</a:t>
            </a:r>
          </a:p>
        </p:txBody>
      </p:sp>
      <p:sp>
        <p:nvSpPr>
          <p:cNvPr id="7" name="Rectangle 6"/>
          <p:cNvSpPr/>
          <p:nvPr/>
        </p:nvSpPr>
        <p:spPr>
          <a:xfrm>
            <a:off x="3749039" y="3310128"/>
            <a:ext cx="4709160" cy="36576"/>
          </a:xfrm>
          <a:prstGeom prst="rect">
            <a:avLst/>
          </a:prstGeom>
          <a:solidFill>
            <a:srgbClr val="2323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828800" y="3547872"/>
            <a:ext cx="8503920" cy="411480"/>
          </a:xfrm>
          <a:prstGeom prst="rect">
            <a:avLst/>
          </a:prstGeom>
          <a:noFill/>
        </p:spPr>
        <p:txBody>
          <a:bodyPr wrap="square" lIns="73152" rIns="73152">
            <a:spAutoFit/>
          </a:bodyPr>
          <a:lstStyle/>
          <a:p>
            <a:pPr algn="ctr">
              <a:defRPr sz="2000" b="1">
                <a:solidFill>
                  <a:srgbClr val="0052A0"/>
                </a:solidFill>
                <a:latin typeface="Arial"/>
              </a:defRPr>
            </a:pPr>
            <a:r>
              <a:t>A Distraction-Free Educational Video Portal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02920" y="5074920"/>
            <a:ext cx="4754880" cy="1097280"/>
          </a:xfrm>
          <a:prstGeom prst="rect">
            <a:avLst/>
          </a:prstGeom>
          <a:noFill/>
        </p:spPr>
        <p:txBody>
          <a:bodyPr wrap="square" lIns="73152" rIns="73152">
            <a:spAutoFit/>
          </a:bodyPr>
          <a:lstStyle/>
          <a:p>
            <a:pPr algn="l">
              <a:defRPr sz="1700" b="1">
                <a:solidFill>
                  <a:srgbClr val="232323"/>
                </a:solidFill>
                <a:latin typeface="Arial"/>
              </a:defRPr>
            </a:pPr>
            <a:r>
              <a:t>Submitted To:</a:t>
            </a:r>
            <a:br/>
            <a:r>
              <a:t>Dr. Meenakshi Nawal</a:t>
            </a:r>
            <a:br/>
            <a:r>
              <a:t>Associate Professor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583680" y="5074920"/>
            <a:ext cx="4937760" cy="1097280"/>
          </a:xfrm>
          <a:prstGeom prst="rect">
            <a:avLst/>
          </a:prstGeom>
          <a:noFill/>
        </p:spPr>
        <p:txBody>
          <a:bodyPr wrap="square" lIns="73152" rIns="73152">
            <a:spAutoFit/>
          </a:bodyPr>
          <a:lstStyle/>
          <a:p>
            <a:pPr algn="l">
              <a:defRPr sz="1700" b="1">
                <a:solidFill>
                  <a:srgbClr val="232323"/>
                </a:solidFill>
                <a:latin typeface="Arial"/>
              </a:defRPr>
            </a:pPr>
            <a:r>
              <a:t>Submitted By:</a:t>
            </a:r>
            <a:br/>
            <a:r>
              <a:t>Kushagra Rathore</a:t>
            </a:r>
            <a:br/>
            <a:r>
              <a:t>Roll No.: 24ESKCS187</a:t>
            </a:r>
          </a:p>
        </p:txBody>
      </p:sp>
      <p:sp>
        <p:nvSpPr>
          <p:cNvPr id="11" name="Rectangle 10"/>
          <p:cNvSpPr/>
          <p:nvPr/>
        </p:nvSpPr>
        <p:spPr>
          <a:xfrm>
            <a:off x="0" y="6601968"/>
            <a:ext cx="12191695" cy="256032"/>
          </a:xfrm>
          <a:prstGeom prst="rect">
            <a:avLst/>
          </a:prstGeom>
          <a:solidFill>
            <a:srgbClr val="BE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000" b="1">
                <a:solidFill>
                  <a:srgbClr val="FFFFFF"/>
                </a:solidFill>
                <a:latin typeface="Arial"/>
              </a:defRPr>
            </a:pPr>
            <a:r>
              <a:t>SKIT, JAIPUR                                                                                                             FocusTube  |  1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1417320" y="256032"/>
            <a:ext cx="10287000" cy="621792"/>
          </a:xfrm>
          <a:prstGeom prst="rect">
            <a:avLst/>
          </a:prstGeom>
          <a:solidFill>
            <a:srgbClr val="BE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2700" b="1">
                <a:solidFill>
                  <a:srgbClr val="FFFFFF"/>
                </a:solidFill>
                <a:latin typeface="Georgia"/>
              </a:defRPr>
            </a:pPr>
            <a:r>
              <a:t>Index</a:t>
            </a:r>
          </a:p>
        </p:txBody>
      </p:sp>
      <p:sp>
        <p:nvSpPr>
          <p:cNvPr id="3" name="Oval 2"/>
          <p:cNvSpPr/>
          <p:nvPr/>
        </p:nvSpPr>
        <p:spPr>
          <a:xfrm>
            <a:off x="228600" y="219456"/>
            <a:ext cx="841248" cy="841248"/>
          </a:xfrm>
          <a:prstGeom prst="ellipse">
            <a:avLst/>
          </a:prstGeom>
          <a:solidFill>
            <a:srgbClr val="FFFFFF"/>
          </a:solidFill>
          <a:ln w="25400">
            <a:solidFill>
              <a:srgbClr val="BE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2200" b="1">
                <a:solidFill>
                  <a:srgbClr val="BE0000"/>
                </a:solidFill>
                <a:latin typeface="Arial"/>
              </a:defRPr>
            </a:pPr>
            <a:r>
              <a:t>FT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6601968"/>
            <a:ext cx="12191695" cy="256032"/>
          </a:xfrm>
          <a:prstGeom prst="rect">
            <a:avLst/>
          </a:prstGeom>
          <a:solidFill>
            <a:srgbClr val="BE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000" b="1">
                <a:solidFill>
                  <a:srgbClr val="FFFFFF"/>
                </a:solidFill>
                <a:latin typeface="Arial"/>
              </a:defRPr>
            </a:pPr>
            <a:r>
              <a:t>SKIT, JAIPUR                                                                                                             FocusTube  |  2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011680" y="1234440"/>
            <a:ext cx="8686800" cy="5029200"/>
          </a:xfrm>
          <a:prstGeom prst="rect">
            <a:avLst/>
          </a:prstGeom>
          <a:noFill/>
        </p:spPr>
        <p:txBody>
          <a:bodyPr wrap="square" lIns="109728" rIns="109728">
            <a:spAutoFit/>
          </a:bodyPr>
          <a:lstStyle/>
          <a:p>
            <a:pPr>
              <a:spcAft>
                <a:spcPts val="1400"/>
              </a:spcAft>
              <a:defRPr sz="2200">
                <a:solidFill>
                  <a:srgbClr val="232323"/>
                </a:solidFill>
                <a:latin typeface="Arial"/>
              </a:defRPr>
            </a:pPr>
            <a:r>
              <a:t>Introduction</a:t>
            </a:r>
          </a:p>
          <a:p>
            <a:pPr>
              <a:spcAft>
                <a:spcPts val="1400"/>
              </a:spcAft>
              <a:defRPr sz="2200">
                <a:solidFill>
                  <a:srgbClr val="232323"/>
                </a:solidFill>
                <a:latin typeface="Arial"/>
              </a:defRPr>
            </a:pPr>
            <a:r>
              <a:t>Objectives</a:t>
            </a:r>
          </a:p>
          <a:p>
            <a:pPr>
              <a:spcAft>
                <a:spcPts val="1400"/>
              </a:spcAft>
              <a:defRPr sz="2200">
                <a:solidFill>
                  <a:srgbClr val="232323"/>
                </a:solidFill>
                <a:latin typeface="Arial"/>
              </a:defRPr>
            </a:pPr>
            <a:r>
              <a:t>Technology Stack Used</a:t>
            </a:r>
          </a:p>
          <a:p>
            <a:pPr>
              <a:spcAft>
                <a:spcPts val="1400"/>
              </a:spcAft>
              <a:defRPr sz="2200">
                <a:solidFill>
                  <a:srgbClr val="232323"/>
                </a:solidFill>
                <a:latin typeface="Arial"/>
              </a:defRPr>
            </a:pPr>
            <a:r>
              <a:t>Key Features</a:t>
            </a:r>
          </a:p>
          <a:p>
            <a:pPr>
              <a:spcAft>
                <a:spcPts val="1400"/>
              </a:spcAft>
              <a:defRPr sz="2200">
                <a:solidFill>
                  <a:srgbClr val="232323"/>
                </a:solidFill>
                <a:latin typeface="Arial"/>
              </a:defRPr>
            </a:pPr>
            <a:r>
              <a:t>Project Overview</a:t>
            </a:r>
          </a:p>
          <a:p>
            <a:pPr>
              <a:spcAft>
                <a:spcPts val="1400"/>
              </a:spcAft>
              <a:defRPr sz="2200">
                <a:solidFill>
                  <a:srgbClr val="232323"/>
                </a:solidFill>
                <a:latin typeface="Arial"/>
              </a:defRPr>
            </a:pPr>
            <a:r>
              <a:t>Working Project / Interface</a:t>
            </a:r>
          </a:p>
          <a:p>
            <a:pPr>
              <a:spcAft>
                <a:spcPts val="1400"/>
              </a:spcAft>
              <a:defRPr sz="2200">
                <a:solidFill>
                  <a:srgbClr val="232323"/>
                </a:solidFill>
                <a:latin typeface="Arial"/>
              </a:defRPr>
            </a:pPr>
            <a:r>
              <a:t>Future Scope</a:t>
            </a:r>
          </a:p>
          <a:p>
            <a:pPr>
              <a:spcAft>
                <a:spcPts val="1400"/>
              </a:spcAft>
              <a:defRPr sz="2200">
                <a:solidFill>
                  <a:srgbClr val="232323"/>
                </a:solidFill>
                <a:latin typeface="Arial"/>
              </a:defRPr>
            </a:pPr>
            <a:r>
              <a:t>Q&amp;A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1417320" y="256032"/>
            <a:ext cx="10287000" cy="621792"/>
          </a:xfrm>
          <a:prstGeom prst="rect">
            <a:avLst/>
          </a:prstGeom>
          <a:solidFill>
            <a:srgbClr val="BE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2700" b="1">
                <a:solidFill>
                  <a:srgbClr val="FFFFFF"/>
                </a:solidFill>
                <a:latin typeface="Georgia"/>
              </a:defRPr>
            </a:pPr>
            <a:r>
              <a:t>Introduction</a:t>
            </a:r>
          </a:p>
        </p:txBody>
      </p:sp>
      <p:sp>
        <p:nvSpPr>
          <p:cNvPr id="3" name="Oval 2"/>
          <p:cNvSpPr/>
          <p:nvPr/>
        </p:nvSpPr>
        <p:spPr>
          <a:xfrm>
            <a:off x="228600" y="219456"/>
            <a:ext cx="841248" cy="841248"/>
          </a:xfrm>
          <a:prstGeom prst="ellipse">
            <a:avLst/>
          </a:prstGeom>
          <a:solidFill>
            <a:srgbClr val="FFFFFF"/>
          </a:solidFill>
          <a:ln w="25400">
            <a:solidFill>
              <a:srgbClr val="BE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2200" b="1">
                <a:solidFill>
                  <a:srgbClr val="BE0000"/>
                </a:solidFill>
                <a:latin typeface="Arial"/>
              </a:defRPr>
            </a:pPr>
            <a:r>
              <a:t>FT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6601968"/>
            <a:ext cx="12191695" cy="256032"/>
          </a:xfrm>
          <a:prstGeom prst="rect">
            <a:avLst/>
          </a:prstGeom>
          <a:solidFill>
            <a:srgbClr val="BE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000" b="1">
                <a:solidFill>
                  <a:srgbClr val="FFFFFF"/>
                </a:solidFill>
                <a:latin typeface="Arial"/>
              </a:defRPr>
            </a:pPr>
            <a:r>
              <a:t>SKIT, JAIPUR                                                                                                             FocusTube  |  3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645920" y="1234440"/>
            <a:ext cx="9966960" cy="4983480"/>
          </a:xfrm>
          <a:prstGeom prst="rect">
            <a:avLst/>
          </a:prstGeom>
          <a:noFill/>
        </p:spPr>
        <p:txBody>
          <a:bodyPr wrap="square" lIns="109728" rIns="109728">
            <a:spAutoFit/>
          </a:bodyPr>
          <a:lstStyle/>
          <a:p>
            <a:pPr>
              <a:spcAft>
                <a:spcPts val="1400"/>
              </a:spcAft>
              <a:defRPr sz="2100">
                <a:solidFill>
                  <a:srgbClr val="232323"/>
                </a:solidFill>
                <a:latin typeface="Arial"/>
              </a:defRPr>
            </a:pPr>
            <a:r>
              <a:t>FocusTube is an educational video portal designed for engineering students.</a:t>
            </a:r>
          </a:p>
          <a:p>
            <a:pPr>
              <a:spcAft>
                <a:spcPts val="1400"/>
              </a:spcAft>
              <a:defRPr sz="2100">
                <a:solidFill>
                  <a:srgbClr val="232323"/>
                </a:solidFill>
                <a:latin typeface="Arial"/>
              </a:defRPr>
            </a:pPr>
            <a:r>
              <a:t>It helps students search for engineering lectures and curated YouTube playlists.</a:t>
            </a:r>
          </a:p>
          <a:p>
            <a:pPr>
              <a:spcAft>
                <a:spcPts val="1400"/>
              </a:spcAft>
              <a:defRPr sz="2100">
                <a:solidFill>
                  <a:srgbClr val="232323"/>
                </a:solidFill>
                <a:latin typeface="Arial"/>
              </a:defRPr>
            </a:pPr>
            <a:r>
              <a:t>The interface aims to reduce distractions by keeping learning tools in one place.</a:t>
            </a:r>
          </a:p>
          <a:p>
            <a:pPr>
              <a:spcAft>
                <a:spcPts val="1400"/>
              </a:spcAft>
              <a:defRPr sz="2100">
                <a:solidFill>
                  <a:srgbClr val="232323"/>
                </a:solidFill>
                <a:latin typeface="Arial"/>
              </a:defRPr>
            </a:pPr>
            <a:r>
              <a:t>The platform includes a Focus Player, study timer, playlists, and lecture notes.</a:t>
            </a:r>
          </a:p>
          <a:p>
            <a:pPr>
              <a:spcAft>
                <a:spcPts val="1400"/>
              </a:spcAft>
              <a:defRPr sz="2100">
                <a:solidFill>
                  <a:srgbClr val="232323"/>
                </a:solidFill>
                <a:latin typeface="Arial"/>
              </a:defRPr>
            </a:pPr>
            <a:r>
              <a:t>It is designed around focused, structured, and self-paced learning.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1417320" y="256032"/>
            <a:ext cx="10287000" cy="621792"/>
          </a:xfrm>
          <a:prstGeom prst="rect">
            <a:avLst/>
          </a:prstGeom>
          <a:solidFill>
            <a:srgbClr val="BE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2700" b="1">
                <a:solidFill>
                  <a:srgbClr val="FFFFFF"/>
                </a:solidFill>
                <a:latin typeface="Georgia"/>
              </a:defRPr>
            </a:pPr>
            <a:r>
              <a:t>Objectives</a:t>
            </a:r>
          </a:p>
        </p:txBody>
      </p:sp>
      <p:sp>
        <p:nvSpPr>
          <p:cNvPr id="3" name="Oval 2"/>
          <p:cNvSpPr/>
          <p:nvPr/>
        </p:nvSpPr>
        <p:spPr>
          <a:xfrm>
            <a:off x="228600" y="219456"/>
            <a:ext cx="841248" cy="841248"/>
          </a:xfrm>
          <a:prstGeom prst="ellipse">
            <a:avLst/>
          </a:prstGeom>
          <a:solidFill>
            <a:srgbClr val="FFFFFF"/>
          </a:solidFill>
          <a:ln w="25400">
            <a:solidFill>
              <a:srgbClr val="BE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2200" b="1">
                <a:solidFill>
                  <a:srgbClr val="BE0000"/>
                </a:solidFill>
                <a:latin typeface="Arial"/>
              </a:defRPr>
            </a:pPr>
            <a:r>
              <a:t>FT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6601968"/>
            <a:ext cx="12191695" cy="256032"/>
          </a:xfrm>
          <a:prstGeom prst="rect">
            <a:avLst/>
          </a:prstGeom>
          <a:solidFill>
            <a:srgbClr val="BE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000" b="1">
                <a:solidFill>
                  <a:srgbClr val="FFFFFF"/>
                </a:solidFill>
                <a:latin typeface="Arial"/>
              </a:defRPr>
            </a:pPr>
            <a:r>
              <a:t>SKIT, JAIPUR                                                                                                             FocusTube  |  4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645920" y="1234440"/>
            <a:ext cx="9966960" cy="4983480"/>
          </a:xfrm>
          <a:prstGeom prst="rect">
            <a:avLst/>
          </a:prstGeom>
          <a:noFill/>
        </p:spPr>
        <p:txBody>
          <a:bodyPr wrap="square" lIns="109728" rIns="109728">
            <a:spAutoFit/>
          </a:bodyPr>
          <a:lstStyle/>
          <a:p>
            <a:pPr>
              <a:spcAft>
                <a:spcPts val="1400"/>
              </a:spcAft>
              <a:defRPr sz="2100">
                <a:solidFill>
                  <a:srgbClr val="232323"/>
                </a:solidFill>
                <a:latin typeface="Arial"/>
              </a:defRPr>
            </a:pPr>
            <a:r>
              <a:t>Build a full-stack educational portal using the MERN stack.</a:t>
            </a:r>
          </a:p>
          <a:p>
            <a:pPr>
              <a:spcAft>
                <a:spcPts val="1400"/>
              </a:spcAft>
              <a:defRPr sz="2100">
                <a:solidFill>
                  <a:srgbClr val="232323"/>
                </a:solidFill>
                <a:latin typeface="Arial"/>
              </a:defRPr>
            </a:pPr>
            <a:r>
              <a:t>Make it easier to find engineering lectures by topic and discipline.</a:t>
            </a:r>
          </a:p>
          <a:p>
            <a:pPr>
              <a:spcAft>
                <a:spcPts val="1400"/>
              </a:spcAft>
              <a:defRPr sz="2100">
                <a:solidFill>
                  <a:srgbClr val="232323"/>
                </a:solidFill>
                <a:latin typeface="Arial"/>
              </a:defRPr>
            </a:pPr>
            <a:r>
              <a:t>Provide a focused video-watching interface for study sessions.</a:t>
            </a:r>
          </a:p>
          <a:p>
            <a:pPr>
              <a:spcAft>
                <a:spcPts val="1400"/>
              </a:spcAft>
              <a:defRPr sz="2100">
                <a:solidFill>
                  <a:srgbClr val="232323"/>
                </a:solidFill>
                <a:latin typeface="Arial"/>
              </a:defRPr>
            </a:pPr>
            <a:r>
              <a:t>Support study planning through a Pomodoro timer and lecture notes.</a:t>
            </a:r>
          </a:p>
          <a:p>
            <a:pPr>
              <a:spcAft>
                <a:spcPts val="1400"/>
              </a:spcAft>
              <a:defRPr sz="2100">
                <a:solidFill>
                  <a:srgbClr val="232323"/>
                </a:solidFill>
                <a:latin typeface="Arial"/>
              </a:defRPr>
            </a:pPr>
            <a:r>
              <a:t>Allow students to organize useful videos and revisit saved learning material.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1417320" y="256032"/>
            <a:ext cx="10287000" cy="621792"/>
          </a:xfrm>
          <a:prstGeom prst="rect">
            <a:avLst/>
          </a:prstGeom>
          <a:solidFill>
            <a:srgbClr val="BE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2700" b="1">
                <a:solidFill>
                  <a:srgbClr val="FFFFFF"/>
                </a:solidFill>
                <a:latin typeface="Georgia"/>
              </a:defRPr>
            </a:pPr>
            <a:r>
              <a:t>Technology Stack Used</a:t>
            </a:r>
          </a:p>
        </p:txBody>
      </p:sp>
      <p:sp>
        <p:nvSpPr>
          <p:cNvPr id="3" name="Oval 2"/>
          <p:cNvSpPr/>
          <p:nvPr/>
        </p:nvSpPr>
        <p:spPr>
          <a:xfrm>
            <a:off x="228600" y="219456"/>
            <a:ext cx="841248" cy="841248"/>
          </a:xfrm>
          <a:prstGeom prst="ellipse">
            <a:avLst/>
          </a:prstGeom>
          <a:solidFill>
            <a:srgbClr val="FFFFFF"/>
          </a:solidFill>
          <a:ln w="25400">
            <a:solidFill>
              <a:srgbClr val="BE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2200" b="1">
                <a:solidFill>
                  <a:srgbClr val="BE0000"/>
                </a:solidFill>
                <a:latin typeface="Arial"/>
              </a:defRPr>
            </a:pPr>
            <a:r>
              <a:t>FT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6601968"/>
            <a:ext cx="12191695" cy="256032"/>
          </a:xfrm>
          <a:prstGeom prst="rect">
            <a:avLst/>
          </a:prstGeom>
          <a:solidFill>
            <a:srgbClr val="BE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000" b="1">
                <a:solidFill>
                  <a:srgbClr val="FFFFFF"/>
                </a:solidFill>
                <a:latin typeface="Arial"/>
              </a:defRPr>
            </a:pPr>
            <a:r>
              <a:t>SKIT, JAIPUR                                                                                                             FocusTube  |  5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1417320" y="1417320"/>
            <a:ext cx="2788920" cy="1325880"/>
          </a:xfrm>
          <a:prstGeom prst="roundRect">
            <a:avLst/>
          </a:prstGeom>
          <a:solidFill>
            <a:srgbClr val="F5F7FA"/>
          </a:solidFill>
          <a:ln>
            <a:solidFill>
              <a:srgbClr val="D2D2D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527048" y="1581912"/>
            <a:ext cx="2560320" cy="365760"/>
          </a:xfrm>
          <a:prstGeom prst="rect">
            <a:avLst/>
          </a:prstGeom>
          <a:noFill/>
        </p:spPr>
        <p:txBody>
          <a:bodyPr wrap="square" lIns="73152" rIns="73152">
            <a:spAutoFit/>
          </a:bodyPr>
          <a:lstStyle/>
          <a:p>
            <a:pPr algn="ctr">
              <a:defRPr sz="1800" b="1">
                <a:solidFill>
                  <a:srgbClr val="0052A0"/>
                </a:solidFill>
                <a:latin typeface="Arial"/>
              </a:defRPr>
            </a:pPr>
            <a:r>
              <a:t>MongoDB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581912" y="2011680"/>
            <a:ext cx="2468880" cy="548640"/>
          </a:xfrm>
          <a:prstGeom prst="rect">
            <a:avLst/>
          </a:prstGeom>
          <a:noFill/>
        </p:spPr>
        <p:txBody>
          <a:bodyPr wrap="square" lIns="73152" rIns="73152">
            <a:spAutoFit/>
          </a:bodyPr>
          <a:lstStyle/>
          <a:p>
            <a:pPr algn="ctr">
              <a:defRPr sz="1300" b="0">
                <a:solidFill>
                  <a:srgbClr val="232323"/>
                </a:solidFill>
                <a:latin typeface="Arial"/>
              </a:defRPr>
            </a:pPr>
            <a:r>
              <a:t>Database for storing application data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709160" y="1417320"/>
            <a:ext cx="2788920" cy="1325880"/>
          </a:xfrm>
          <a:prstGeom prst="roundRect">
            <a:avLst/>
          </a:prstGeom>
          <a:solidFill>
            <a:srgbClr val="F5F7FA"/>
          </a:solidFill>
          <a:ln>
            <a:solidFill>
              <a:srgbClr val="D2D2D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818888" y="1581912"/>
            <a:ext cx="2560320" cy="365760"/>
          </a:xfrm>
          <a:prstGeom prst="rect">
            <a:avLst/>
          </a:prstGeom>
          <a:noFill/>
        </p:spPr>
        <p:txBody>
          <a:bodyPr wrap="square" lIns="73152" rIns="73152">
            <a:spAutoFit/>
          </a:bodyPr>
          <a:lstStyle/>
          <a:p>
            <a:pPr algn="ctr">
              <a:defRPr sz="1800" b="1">
                <a:solidFill>
                  <a:srgbClr val="0052A0"/>
                </a:solidFill>
                <a:latin typeface="Arial"/>
              </a:defRPr>
            </a:pPr>
            <a:r>
              <a:t>Express.js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873752" y="2011680"/>
            <a:ext cx="2468880" cy="548640"/>
          </a:xfrm>
          <a:prstGeom prst="rect">
            <a:avLst/>
          </a:prstGeom>
          <a:noFill/>
        </p:spPr>
        <p:txBody>
          <a:bodyPr wrap="square" lIns="73152" rIns="73152">
            <a:spAutoFit/>
          </a:bodyPr>
          <a:lstStyle/>
          <a:p>
            <a:pPr algn="ctr">
              <a:defRPr sz="1300" b="0">
                <a:solidFill>
                  <a:srgbClr val="232323"/>
                </a:solidFill>
                <a:latin typeface="Arial"/>
              </a:defRPr>
            </a:pPr>
            <a:r>
              <a:t>Backend web framework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001000" y="1417320"/>
            <a:ext cx="2788920" cy="1325880"/>
          </a:xfrm>
          <a:prstGeom prst="roundRect">
            <a:avLst/>
          </a:prstGeom>
          <a:solidFill>
            <a:srgbClr val="F5F7FA"/>
          </a:solidFill>
          <a:ln>
            <a:solidFill>
              <a:srgbClr val="D2D2D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110727" y="1581912"/>
            <a:ext cx="2560320" cy="365760"/>
          </a:xfrm>
          <a:prstGeom prst="rect">
            <a:avLst/>
          </a:prstGeom>
          <a:noFill/>
        </p:spPr>
        <p:txBody>
          <a:bodyPr wrap="square" lIns="73152" rIns="73152">
            <a:spAutoFit/>
          </a:bodyPr>
          <a:lstStyle/>
          <a:p>
            <a:pPr algn="ctr">
              <a:defRPr sz="1800" b="1">
                <a:solidFill>
                  <a:srgbClr val="0052A0"/>
                </a:solidFill>
                <a:latin typeface="Arial"/>
              </a:defRPr>
            </a:pPr>
            <a:r>
              <a:t>React.js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165592" y="2011680"/>
            <a:ext cx="2468880" cy="548640"/>
          </a:xfrm>
          <a:prstGeom prst="rect">
            <a:avLst/>
          </a:prstGeom>
          <a:noFill/>
        </p:spPr>
        <p:txBody>
          <a:bodyPr wrap="square" lIns="73152" rIns="73152">
            <a:spAutoFit/>
          </a:bodyPr>
          <a:lstStyle/>
          <a:p>
            <a:pPr algn="ctr">
              <a:defRPr sz="1300" b="0">
                <a:solidFill>
                  <a:srgbClr val="232323"/>
                </a:solidFill>
                <a:latin typeface="Arial"/>
              </a:defRPr>
            </a:pPr>
            <a:r>
              <a:t>Interactive user interface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1417320" y="3246120"/>
            <a:ext cx="2788920" cy="1325880"/>
          </a:xfrm>
          <a:prstGeom prst="roundRect">
            <a:avLst/>
          </a:prstGeom>
          <a:solidFill>
            <a:srgbClr val="F5F7FA"/>
          </a:solidFill>
          <a:ln>
            <a:solidFill>
              <a:srgbClr val="D2D2D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1527048" y="3410712"/>
            <a:ext cx="2560320" cy="365760"/>
          </a:xfrm>
          <a:prstGeom prst="rect">
            <a:avLst/>
          </a:prstGeom>
          <a:noFill/>
        </p:spPr>
        <p:txBody>
          <a:bodyPr wrap="square" lIns="73152" rIns="73152">
            <a:spAutoFit/>
          </a:bodyPr>
          <a:lstStyle/>
          <a:p>
            <a:pPr algn="ctr">
              <a:defRPr sz="1800" b="1">
                <a:solidFill>
                  <a:srgbClr val="0052A0"/>
                </a:solidFill>
                <a:latin typeface="Arial"/>
              </a:defRPr>
            </a:pPr>
            <a:r>
              <a:t>Node.js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581912" y="3840480"/>
            <a:ext cx="2468880" cy="548640"/>
          </a:xfrm>
          <a:prstGeom prst="rect">
            <a:avLst/>
          </a:prstGeom>
          <a:noFill/>
        </p:spPr>
        <p:txBody>
          <a:bodyPr wrap="square" lIns="73152" rIns="73152">
            <a:spAutoFit/>
          </a:bodyPr>
          <a:lstStyle/>
          <a:p>
            <a:pPr algn="ctr">
              <a:defRPr sz="1300" b="0">
                <a:solidFill>
                  <a:srgbClr val="232323"/>
                </a:solidFill>
                <a:latin typeface="Arial"/>
              </a:defRPr>
            </a:pPr>
            <a:r>
              <a:t>JavaScript runtime for the server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4709160" y="3246120"/>
            <a:ext cx="2788920" cy="1325880"/>
          </a:xfrm>
          <a:prstGeom prst="roundRect">
            <a:avLst/>
          </a:prstGeom>
          <a:solidFill>
            <a:srgbClr val="F5F7FA"/>
          </a:solidFill>
          <a:ln>
            <a:solidFill>
              <a:srgbClr val="D2D2D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4818888" y="3410712"/>
            <a:ext cx="2560320" cy="365760"/>
          </a:xfrm>
          <a:prstGeom prst="rect">
            <a:avLst/>
          </a:prstGeom>
          <a:noFill/>
        </p:spPr>
        <p:txBody>
          <a:bodyPr wrap="square" lIns="73152" rIns="73152">
            <a:spAutoFit/>
          </a:bodyPr>
          <a:lstStyle/>
          <a:p>
            <a:pPr algn="ctr">
              <a:defRPr sz="1800" b="1">
                <a:solidFill>
                  <a:srgbClr val="0052A0"/>
                </a:solidFill>
                <a:latin typeface="Arial"/>
              </a:defRPr>
            </a:pPr>
            <a:r>
              <a:t>YouTube Data API v3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873752" y="3840480"/>
            <a:ext cx="2468880" cy="548640"/>
          </a:xfrm>
          <a:prstGeom prst="rect">
            <a:avLst/>
          </a:prstGeom>
          <a:noFill/>
        </p:spPr>
        <p:txBody>
          <a:bodyPr wrap="square" lIns="73152" rIns="73152">
            <a:spAutoFit/>
          </a:bodyPr>
          <a:lstStyle/>
          <a:p>
            <a:pPr algn="ctr">
              <a:defRPr sz="1300" b="0">
                <a:solidFill>
                  <a:srgbClr val="232323"/>
                </a:solidFill>
                <a:latin typeface="Arial"/>
              </a:defRPr>
            </a:pPr>
            <a:r>
              <a:t>Search and video discovery integration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8001000" y="3246120"/>
            <a:ext cx="2788920" cy="1325880"/>
          </a:xfrm>
          <a:prstGeom prst="roundRect">
            <a:avLst/>
          </a:prstGeom>
          <a:solidFill>
            <a:srgbClr val="F5F7FA"/>
          </a:solidFill>
          <a:ln>
            <a:solidFill>
              <a:srgbClr val="D2D2D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8110727" y="3410712"/>
            <a:ext cx="2560320" cy="365760"/>
          </a:xfrm>
          <a:prstGeom prst="rect">
            <a:avLst/>
          </a:prstGeom>
          <a:noFill/>
        </p:spPr>
        <p:txBody>
          <a:bodyPr wrap="square" lIns="73152" rIns="73152">
            <a:spAutoFit/>
          </a:bodyPr>
          <a:lstStyle/>
          <a:p>
            <a:pPr algn="ctr">
              <a:defRPr sz="1800" b="1">
                <a:solidFill>
                  <a:srgbClr val="0052A0"/>
                </a:solidFill>
                <a:latin typeface="Arial"/>
              </a:defRPr>
            </a:pPr>
            <a:r>
              <a:t>HTML / CSS / JavaScript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165592" y="3840480"/>
            <a:ext cx="2468880" cy="548640"/>
          </a:xfrm>
          <a:prstGeom prst="rect">
            <a:avLst/>
          </a:prstGeom>
          <a:noFill/>
        </p:spPr>
        <p:txBody>
          <a:bodyPr wrap="square" lIns="73152" rIns="73152">
            <a:spAutoFit/>
          </a:bodyPr>
          <a:lstStyle/>
          <a:p>
            <a:pPr algn="ctr">
              <a:defRPr sz="1300" b="0">
                <a:solidFill>
                  <a:srgbClr val="232323"/>
                </a:solidFill>
                <a:latin typeface="Arial"/>
              </a:defRPr>
            </a:pPr>
            <a:r>
              <a:t>Web structure, styling, and behavior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1417320" y="256032"/>
            <a:ext cx="10287000" cy="621792"/>
          </a:xfrm>
          <a:prstGeom prst="rect">
            <a:avLst/>
          </a:prstGeom>
          <a:solidFill>
            <a:srgbClr val="BE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2700" b="1">
                <a:solidFill>
                  <a:srgbClr val="FFFFFF"/>
                </a:solidFill>
                <a:latin typeface="Georgia"/>
              </a:defRPr>
            </a:pPr>
            <a:r>
              <a:t>Key Features</a:t>
            </a:r>
          </a:p>
        </p:txBody>
      </p:sp>
      <p:sp>
        <p:nvSpPr>
          <p:cNvPr id="3" name="Oval 2"/>
          <p:cNvSpPr/>
          <p:nvPr/>
        </p:nvSpPr>
        <p:spPr>
          <a:xfrm>
            <a:off x="228600" y="219456"/>
            <a:ext cx="841248" cy="841248"/>
          </a:xfrm>
          <a:prstGeom prst="ellipse">
            <a:avLst/>
          </a:prstGeom>
          <a:solidFill>
            <a:srgbClr val="FFFFFF"/>
          </a:solidFill>
          <a:ln w="25400">
            <a:solidFill>
              <a:srgbClr val="BE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2200" b="1">
                <a:solidFill>
                  <a:srgbClr val="BE0000"/>
                </a:solidFill>
                <a:latin typeface="Arial"/>
              </a:defRPr>
            </a:pPr>
            <a:r>
              <a:t>FT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6601968"/>
            <a:ext cx="12191695" cy="256032"/>
          </a:xfrm>
          <a:prstGeom prst="rect">
            <a:avLst/>
          </a:prstGeom>
          <a:solidFill>
            <a:srgbClr val="BE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000" b="1">
                <a:solidFill>
                  <a:srgbClr val="FFFFFF"/>
                </a:solidFill>
                <a:latin typeface="Arial"/>
              </a:defRPr>
            </a:pPr>
            <a:r>
              <a:t>SKIT, JAIPUR                                                                                                             FocusTube  |  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645920" y="1234440"/>
            <a:ext cx="9966960" cy="4983480"/>
          </a:xfrm>
          <a:prstGeom prst="rect">
            <a:avLst/>
          </a:prstGeom>
          <a:noFill/>
        </p:spPr>
        <p:txBody>
          <a:bodyPr wrap="square" lIns="109728" rIns="109728">
            <a:spAutoFit/>
          </a:bodyPr>
          <a:lstStyle/>
          <a:p>
            <a:pPr>
              <a:spcAft>
                <a:spcPts val="1400"/>
              </a:spcAft>
              <a:defRPr sz="1800">
                <a:solidFill>
                  <a:srgbClr val="232323"/>
                </a:solidFill>
                <a:latin typeface="Arial"/>
              </a:defRPr>
            </a:pPr>
            <a:r>
              <a:t>Educational video search with discipline and subject quick-filters.</a:t>
            </a:r>
          </a:p>
          <a:p>
            <a:pPr>
              <a:spcAft>
                <a:spcPts val="1400"/>
              </a:spcAft>
              <a:defRPr sz="1800">
                <a:solidFill>
                  <a:srgbClr val="232323"/>
                </a:solidFill>
                <a:latin typeface="Arial"/>
              </a:defRPr>
            </a:pPr>
            <a:r>
              <a:t>Playlist search mode for discovering longer learning resources.</a:t>
            </a:r>
          </a:p>
          <a:p>
            <a:pPr>
              <a:spcAft>
                <a:spcPts val="1400"/>
              </a:spcAft>
              <a:defRPr sz="1800">
                <a:solidFill>
                  <a:srgbClr val="232323"/>
                </a:solidFill>
                <a:latin typeface="Arial"/>
              </a:defRPr>
            </a:pPr>
            <a:r>
              <a:t>Focus Player page with a dedicated study interface.</a:t>
            </a:r>
          </a:p>
          <a:p>
            <a:pPr>
              <a:spcAft>
                <a:spcPts val="1400"/>
              </a:spcAft>
              <a:defRPr sz="1800">
                <a:solidFill>
                  <a:srgbClr val="232323"/>
                </a:solidFill>
                <a:latin typeface="Arial"/>
              </a:defRPr>
            </a:pPr>
            <a:r>
              <a:t>Pomodoro timer with Study and Break modes.</a:t>
            </a:r>
          </a:p>
          <a:p>
            <a:pPr>
              <a:spcAft>
                <a:spcPts val="1400"/>
              </a:spcAft>
              <a:defRPr sz="1800">
                <a:solidFill>
                  <a:srgbClr val="232323"/>
                </a:solidFill>
                <a:latin typeface="Arial"/>
              </a:defRPr>
            </a:pPr>
            <a:r>
              <a:t>Lecture notes with timestamps and a way to save key concepts.</a:t>
            </a:r>
          </a:p>
          <a:p>
            <a:pPr>
              <a:spcAft>
                <a:spcPts val="1400"/>
              </a:spcAft>
              <a:defRPr sz="1800">
                <a:solidFill>
                  <a:srgbClr val="232323"/>
                </a:solidFill>
                <a:latin typeface="Arial"/>
              </a:defRPr>
            </a:pPr>
            <a:r>
              <a:t>Study notes page with keyword search, editing, deletion, and text export options.</a:t>
            </a:r>
          </a:p>
          <a:p>
            <a:pPr>
              <a:spcAft>
                <a:spcPts val="1400"/>
              </a:spcAft>
              <a:defRPr sz="1800">
                <a:solidFill>
                  <a:srgbClr val="232323"/>
                </a:solidFill>
                <a:latin typeface="Arial"/>
              </a:defRPr>
            </a:pPr>
            <a:r>
              <a:t>Recently watched lectures and a distraction-free learning layout.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1417320" y="256032"/>
            <a:ext cx="10287000" cy="621792"/>
          </a:xfrm>
          <a:prstGeom prst="rect">
            <a:avLst/>
          </a:prstGeom>
          <a:solidFill>
            <a:srgbClr val="BE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2700" b="1">
                <a:solidFill>
                  <a:srgbClr val="FFFFFF"/>
                </a:solidFill>
                <a:latin typeface="Georgia"/>
              </a:defRPr>
            </a:pPr>
            <a:r>
              <a:t>Project Overview</a:t>
            </a:r>
          </a:p>
        </p:txBody>
      </p:sp>
      <p:sp>
        <p:nvSpPr>
          <p:cNvPr id="3" name="Oval 2"/>
          <p:cNvSpPr/>
          <p:nvPr/>
        </p:nvSpPr>
        <p:spPr>
          <a:xfrm>
            <a:off x="228600" y="219456"/>
            <a:ext cx="841248" cy="841248"/>
          </a:xfrm>
          <a:prstGeom prst="ellipse">
            <a:avLst/>
          </a:prstGeom>
          <a:solidFill>
            <a:srgbClr val="FFFFFF"/>
          </a:solidFill>
          <a:ln w="25400">
            <a:solidFill>
              <a:srgbClr val="BE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2200" b="1">
                <a:solidFill>
                  <a:srgbClr val="BE0000"/>
                </a:solidFill>
                <a:latin typeface="Arial"/>
              </a:defRPr>
            </a:pPr>
            <a:r>
              <a:t>FT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6601968"/>
            <a:ext cx="12191695" cy="256032"/>
          </a:xfrm>
          <a:prstGeom prst="rect">
            <a:avLst/>
          </a:prstGeom>
          <a:solidFill>
            <a:srgbClr val="BE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000" b="1">
                <a:solidFill>
                  <a:srgbClr val="FFFFFF"/>
                </a:solidFill>
                <a:latin typeface="Arial"/>
              </a:defRPr>
            </a:pPr>
            <a:r>
              <a:t>SKIT, JAIPUR                                                                                                             FocusTube  |  7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645920" y="1234440"/>
            <a:ext cx="9875520" cy="640080"/>
          </a:xfrm>
          <a:prstGeom prst="rect">
            <a:avLst/>
          </a:prstGeom>
          <a:noFill/>
        </p:spPr>
        <p:txBody>
          <a:bodyPr wrap="square" lIns="73152" rIns="73152">
            <a:spAutoFit/>
          </a:bodyPr>
          <a:lstStyle/>
          <a:p>
            <a:pPr algn="ctr">
              <a:defRPr sz="2300" b="1">
                <a:solidFill>
                  <a:srgbClr val="0052A0"/>
                </a:solidFill>
                <a:latin typeface="Arial"/>
              </a:defRPr>
            </a:pPr>
            <a:r>
              <a:t>FocusTube brings lecture discovery and study productivity together in a single web application.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600200" y="2057400"/>
            <a:ext cx="9966960" cy="3931920"/>
          </a:xfrm>
          <a:prstGeom prst="rect">
            <a:avLst/>
          </a:prstGeom>
          <a:noFill/>
        </p:spPr>
        <p:txBody>
          <a:bodyPr wrap="square" lIns="109728" rIns="109728">
            <a:spAutoFit/>
          </a:bodyPr>
          <a:lstStyle/>
          <a:p>
            <a:pPr>
              <a:spcAft>
                <a:spcPts val="1400"/>
              </a:spcAft>
              <a:defRPr sz="1900">
                <a:solidFill>
                  <a:srgbClr val="232323"/>
                </a:solidFill>
                <a:latin typeface="Arial"/>
              </a:defRPr>
            </a:pPr>
            <a:r>
              <a:t>Home page: search lectures, filter by engineering discipline, and explore popular lecture channels.</a:t>
            </a:r>
          </a:p>
          <a:p>
            <a:pPr>
              <a:spcAft>
                <a:spcPts val="1400"/>
              </a:spcAft>
              <a:defRPr sz="1900">
                <a:solidFill>
                  <a:srgbClr val="232323"/>
                </a:solidFill>
                <a:latin typeface="Arial"/>
              </a:defRPr>
            </a:pPr>
            <a:r>
              <a:t>Focus Player: watch a selected lecture alongside study tools.</a:t>
            </a:r>
          </a:p>
          <a:p>
            <a:pPr>
              <a:spcAft>
                <a:spcPts val="1400"/>
              </a:spcAft>
              <a:defRPr sz="1900">
                <a:solidFill>
                  <a:srgbClr val="232323"/>
                </a:solidFill>
                <a:latin typeface="Arial"/>
              </a:defRPr>
            </a:pPr>
            <a:r>
              <a:t>Notes: capture concepts, formulas, exam points, and video timestamps.</a:t>
            </a:r>
          </a:p>
          <a:p>
            <a:pPr>
              <a:spcAft>
                <a:spcPts val="1400"/>
              </a:spcAft>
              <a:defRPr sz="1900">
                <a:solidFill>
                  <a:srgbClr val="232323"/>
                </a:solidFill>
                <a:latin typeface="Arial"/>
              </a:defRPr>
            </a:pPr>
            <a:r>
              <a:t>Playlists: discover and organize learning videos for later study.</a:t>
            </a:r>
          </a:p>
          <a:p>
            <a:pPr>
              <a:spcAft>
                <a:spcPts val="1400"/>
              </a:spcAft>
              <a:defRPr sz="1900">
                <a:solidFill>
                  <a:srgbClr val="232323"/>
                </a:solidFill>
                <a:latin typeface="Arial"/>
              </a:defRPr>
            </a:pPr>
            <a:r>
              <a:t>The interface is intended to support focused study without the usual video-platform distractions.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1417320" y="256032"/>
            <a:ext cx="10287000" cy="621792"/>
          </a:xfrm>
          <a:prstGeom prst="rect">
            <a:avLst/>
          </a:prstGeom>
          <a:solidFill>
            <a:srgbClr val="BE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2700" b="1">
                <a:solidFill>
                  <a:srgbClr val="FFFFFF"/>
                </a:solidFill>
                <a:latin typeface="Georgia"/>
              </a:defRPr>
            </a:pPr>
            <a:r>
              <a:t>Home Page – Search Educational Videos</a:t>
            </a:r>
          </a:p>
        </p:txBody>
      </p:sp>
      <p:sp>
        <p:nvSpPr>
          <p:cNvPr id="3" name="Oval 2"/>
          <p:cNvSpPr/>
          <p:nvPr/>
        </p:nvSpPr>
        <p:spPr>
          <a:xfrm>
            <a:off x="228600" y="219456"/>
            <a:ext cx="841248" cy="841248"/>
          </a:xfrm>
          <a:prstGeom prst="ellipse">
            <a:avLst/>
          </a:prstGeom>
          <a:solidFill>
            <a:srgbClr val="FFFFFF"/>
          </a:solidFill>
          <a:ln w="25400">
            <a:solidFill>
              <a:srgbClr val="BE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2200" b="1">
                <a:solidFill>
                  <a:srgbClr val="BE0000"/>
                </a:solidFill>
                <a:latin typeface="Arial"/>
              </a:defRPr>
            </a:pPr>
            <a:r>
              <a:t>FT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6601968"/>
            <a:ext cx="12191695" cy="256032"/>
          </a:xfrm>
          <a:prstGeom prst="rect">
            <a:avLst/>
          </a:prstGeom>
          <a:solidFill>
            <a:srgbClr val="BE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000" b="1">
                <a:solidFill>
                  <a:srgbClr val="FFFFFF"/>
                </a:solidFill>
                <a:latin typeface="Arial"/>
              </a:defRPr>
            </a:pPr>
            <a:r>
              <a:t>SKIT, JAIPUR                                                                                                             FocusTube  |  8</a:t>
            </a:r>
          </a:p>
        </p:txBody>
      </p:sp>
      <p:sp>
        <p:nvSpPr>
          <p:cNvPr id="5" name="Rectangle 4"/>
          <p:cNvSpPr/>
          <p:nvPr/>
        </p:nvSpPr>
        <p:spPr>
          <a:xfrm>
            <a:off x="594360" y="1143000"/>
            <a:ext cx="10972800" cy="5074920"/>
          </a:xfrm>
          <a:prstGeom prst="rect">
            <a:avLst/>
          </a:prstGeom>
          <a:solidFill>
            <a:srgbClr val="FFFFFF"/>
          </a:solidFill>
          <a:ln>
            <a:solidFill>
              <a:srgbClr val="D2D2D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6" name="Picture 5" descr="WhatsApp Image 2026-10-26 at 20.55.48.jpe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94385" y="1143000"/>
            <a:ext cx="10572750" cy="5074920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1417320" y="256032"/>
            <a:ext cx="10287000" cy="621792"/>
          </a:xfrm>
          <a:prstGeom prst="rect">
            <a:avLst/>
          </a:prstGeom>
          <a:solidFill>
            <a:srgbClr val="BE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2700" b="1">
                <a:solidFill>
                  <a:srgbClr val="FFFFFF"/>
                </a:solidFill>
                <a:latin typeface="Georgia"/>
              </a:defRPr>
            </a:pPr>
            <a:r>
              <a:t>Student Login &amp; Registration</a:t>
            </a:r>
          </a:p>
        </p:txBody>
      </p:sp>
      <p:sp>
        <p:nvSpPr>
          <p:cNvPr id="3" name="Oval 2"/>
          <p:cNvSpPr/>
          <p:nvPr/>
        </p:nvSpPr>
        <p:spPr>
          <a:xfrm>
            <a:off x="228600" y="219456"/>
            <a:ext cx="841248" cy="841248"/>
          </a:xfrm>
          <a:prstGeom prst="ellipse">
            <a:avLst/>
          </a:prstGeom>
          <a:solidFill>
            <a:srgbClr val="FFFFFF"/>
          </a:solidFill>
          <a:ln w="25400">
            <a:solidFill>
              <a:srgbClr val="BE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2200" b="1">
                <a:solidFill>
                  <a:srgbClr val="BE0000"/>
                </a:solidFill>
                <a:latin typeface="Arial"/>
              </a:defRPr>
            </a:pPr>
            <a:r>
              <a:t>FT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6601968"/>
            <a:ext cx="12191695" cy="256032"/>
          </a:xfrm>
          <a:prstGeom prst="rect">
            <a:avLst/>
          </a:prstGeom>
          <a:solidFill>
            <a:srgbClr val="BE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000" b="1">
                <a:solidFill>
                  <a:srgbClr val="FFFFFF"/>
                </a:solidFill>
                <a:latin typeface="Arial"/>
              </a:defRPr>
            </a:pPr>
            <a:r>
              <a:t>SKIT, JAIPUR                                                                                                             FocusTube  |  9</a:t>
            </a:r>
          </a:p>
        </p:txBody>
      </p:sp>
      <p:sp>
        <p:nvSpPr>
          <p:cNvPr id="5" name="Rectangle 4"/>
          <p:cNvSpPr/>
          <p:nvPr/>
        </p:nvSpPr>
        <p:spPr>
          <a:xfrm>
            <a:off x="731520" y="1170432"/>
            <a:ext cx="10698480" cy="4983480"/>
          </a:xfrm>
          <a:prstGeom prst="rect">
            <a:avLst/>
          </a:prstGeom>
          <a:solidFill>
            <a:srgbClr val="FFFFFF"/>
          </a:solidFill>
          <a:ln>
            <a:solidFill>
              <a:srgbClr val="D2D2D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6" name="Picture 5" descr="WhatsApp Image 2026-10-26 at 20.55.49.jpe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12576" y="1170432"/>
            <a:ext cx="9536367" cy="4983480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914400" y="6181344"/>
            <a:ext cx="10332720" cy="274320"/>
          </a:xfrm>
          <a:prstGeom prst="rect">
            <a:avLst/>
          </a:prstGeom>
          <a:noFill/>
        </p:spPr>
        <p:txBody>
          <a:bodyPr wrap="square" lIns="73152" rIns="73152">
            <a:spAutoFit/>
          </a:bodyPr>
          <a:lstStyle/>
          <a:p>
            <a:pPr algn="ctr">
              <a:defRPr sz="1200" b="0">
                <a:solidFill>
                  <a:srgbClr val="5F5F5F"/>
                </a:solidFill>
                <a:latin typeface="Arial"/>
              </a:defRPr>
            </a:pPr>
            <a:r>
              <a:t>The screen provides student login and new-registration tabs, with a demo autofill option for testing.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1417320" y="256032"/>
            <a:ext cx="10287000" cy="621792"/>
          </a:xfrm>
          <a:prstGeom prst="rect">
            <a:avLst/>
          </a:prstGeom>
          <a:solidFill>
            <a:srgbClr val="BE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2700" b="1">
                <a:solidFill>
                  <a:srgbClr val="FFFFFF"/>
                </a:solidFill>
                <a:latin typeface="Georgia"/>
              </a:defRPr>
            </a:pPr>
            <a:r>
              <a:t>Focus Player &amp; Pomodoro Timer</a:t>
            </a:r>
          </a:p>
        </p:txBody>
      </p:sp>
      <p:sp>
        <p:nvSpPr>
          <p:cNvPr id="3" name="Oval 2"/>
          <p:cNvSpPr/>
          <p:nvPr/>
        </p:nvSpPr>
        <p:spPr>
          <a:xfrm>
            <a:off x="228600" y="219456"/>
            <a:ext cx="841248" cy="841248"/>
          </a:xfrm>
          <a:prstGeom prst="ellipse">
            <a:avLst/>
          </a:prstGeom>
          <a:solidFill>
            <a:srgbClr val="FFFFFF"/>
          </a:solidFill>
          <a:ln w="25400">
            <a:solidFill>
              <a:srgbClr val="BE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2200" b="1">
                <a:solidFill>
                  <a:srgbClr val="BE0000"/>
                </a:solidFill>
                <a:latin typeface="Arial"/>
              </a:defRPr>
            </a:pPr>
            <a:r>
              <a:t>FT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6601968"/>
            <a:ext cx="12191695" cy="256032"/>
          </a:xfrm>
          <a:prstGeom prst="rect">
            <a:avLst/>
          </a:prstGeom>
          <a:solidFill>
            <a:srgbClr val="BE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000" b="1">
                <a:solidFill>
                  <a:srgbClr val="FFFFFF"/>
                </a:solidFill>
                <a:latin typeface="Arial"/>
              </a:defRPr>
            </a:pPr>
            <a:r>
              <a:t>SKIT, JAIPUR                                                                                                             FocusTube  |  10</a:t>
            </a:r>
          </a:p>
        </p:txBody>
      </p:sp>
      <p:sp>
        <p:nvSpPr>
          <p:cNvPr id="5" name="Rectangle 4"/>
          <p:cNvSpPr/>
          <p:nvPr/>
        </p:nvSpPr>
        <p:spPr>
          <a:xfrm>
            <a:off x="502920" y="1097280"/>
            <a:ext cx="11155680" cy="5257800"/>
          </a:xfrm>
          <a:prstGeom prst="rect">
            <a:avLst/>
          </a:prstGeom>
          <a:solidFill>
            <a:srgbClr val="FFFFFF"/>
          </a:solidFill>
          <a:ln>
            <a:solidFill>
              <a:srgbClr val="D2D2D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6" name="Picture 5" descr="WhatsApp Image 2026-10-26 at 20.55.50.jpe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606098" y="1097280"/>
            <a:ext cx="8949322" cy="5257800"/>
          </a:xfrm>
          <a:prstGeom prst="rect">
            <a:avLst/>
          </a:prstGeom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1417320" y="256032"/>
            <a:ext cx="10287000" cy="621792"/>
          </a:xfrm>
          <a:prstGeom prst="rect">
            <a:avLst/>
          </a:prstGeom>
          <a:solidFill>
            <a:srgbClr val="BE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2700" b="1">
                <a:solidFill>
                  <a:srgbClr val="FFFFFF"/>
                </a:solidFill>
                <a:latin typeface="Georgia"/>
              </a:defRPr>
            </a:pPr>
            <a:r>
              <a:t>Engineering Study Notes</a:t>
            </a:r>
          </a:p>
        </p:txBody>
      </p:sp>
      <p:sp>
        <p:nvSpPr>
          <p:cNvPr id="3" name="Oval 2"/>
          <p:cNvSpPr/>
          <p:nvPr/>
        </p:nvSpPr>
        <p:spPr>
          <a:xfrm>
            <a:off x="228600" y="219456"/>
            <a:ext cx="841248" cy="841248"/>
          </a:xfrm>
          <a:prstGeom prst="ellipse">
            <a:avLst/>
          </a:prstGeom>
          <a:solidFill>
            <a:srgbClr val="FFFFFF"/>
          </a:solidFill>
          <a:ln w="25400">
            <a:solidFill>
              <a:srgbClr val="BE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2200" b="1">
                <a:solidFill>
                  <a:srgbClr val="BE0000"/>
                </a:solidFill>
                <a:latin typeface="Arial"/>
              </a:defRPr>
            </a:pPr>
            <a:r>
              <a:t>FT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6601968"/>
            <a:ext cx="12191695" cy="256032"/>
          </a:xfrm>
          <a:prstGeom prst="rect">
            <a:avLst/>
          </a:prstGeom>
          <a:solidFill>
            <a:srgbClr val="BE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000" b="1">
                <a:solidFill>
                  <a:srgbClr val="FFFFFF"/>
                </a:solidFill>
                <a:latin typeface="Arial"/>
              </a:defRPr>
            </a:pPr>
            <a:r>
              <a:t>SKIT, JAIPUR                                                                                                             FocusTube  |  11</a:t>
            </a:r>
          </a:p>
        </p:txBody>
      </p:sp>
      <p:sp>
        <p:nvSpPr>
          <p:cNvPr id="5" name="Rectangle 4"/>
          <p:cNvSpPr/>
          <p:nvPr/>
        </p:nvSpPr>
        <p:spPr>
          <a:xfrm>
            <a:off x="502920" y="1097280"/>
            <a:ext cx="11155680" cy="5257800"/>
          </a:xfrm>
          <a:prstGeom prst="rect">
            <a:avLst/>
          </a:prstGeom>
          <a:solidFill>
            <a:srgbClr val="FFFFFF"/>
          </a:solidFill>
          <a:ln>
            <a:solidFill>
              <a:srgbClr val="D2D2D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6" name="Picture 5" descr="WhatsApp Image 2026-10-26 at 20.55.51.jpe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43346" y="1097280"/>
            <a:ext cx="10074826" cy="5257800"/>
          </a:xfrm>
          <a:prstGeom prst="rect">
            <a:avLst/>
          </a:prstGeom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1417320" y="256032"/>
            <a:ext cx="10287000" cy="621792"/>
          </a:xfrm>
          <a:prstGeom prst="rect">
            <a:avLst/>
          </a:prstGeom>
          <a:solidFill>
            <a:srgbClr val="BE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2700" b="1">
                <a:solidFill>
                  <a:srgbClr val="FFFFFF"/>
                </a:solidFill>
                <a:latin typeface="Georgia"/>
              </a:defRPr>
            </a:pPr>
            <a:r>
              <a:t>How FocusTube Works</a:t>
            </a:r>
          </a:p>
        </p:txBody>
      </p:sp>
      <p:sp>
        <p:nvSpPr>
          <p:cNvPr id="3" name="Oval 2"/>
          <p:cNvSpPr/>
          <p:nvPr/>
        </p:nvSpPr>
        <p:spPr>
          <a:xfrm>
            <a:off x="228600" y="219456"/>
            <a:ext cx="841248" cy="841248"/>
          </a:xfrm>
          <a:prstGeom prst="ellipse">
            <a:avLst/>
          </a:prstGeom>
          <a:solidFill>
            <a:srgbClr val="FFFFFF"/>
          </a:solidFill>
          <a:ln w="25400">
            <a:solidFill>
              <a:srgbClr val="BE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2200" b="1">
                <a:solidFill>
                  <a:srgbClr val="BE0000"/>
                </a:solidFill>
                <a:latin typeface="Arial"/>
              </a:defRPr>
            </a:pPr>
            <a:r>
              <a:t>FT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6601968"/>
            <a:ext cx="12191695" cy="256032"/>
          </a:xfrm>
          <a:prstGeom prst="rect">
            <a:avLst/>
          </a:prstGeom>
          <a:solidFill>
            <a:srgbClr val="BE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000" b="1">
                <a:solidFill>
                  <a:srgbClr val="FFFFFF"/>
                </a:solidFill>
                <a:latin typeface="Arial"/>
              </a:defRPr>
            </a:pPr>
            <a:r>
              <a:t>SKIT, JAIPUR                                                                                                             FocusTube  |  12</a:t>
            </a:r>
          </a:p>
        </p:txBody>
      </p:sp>
      <p:sp>
        <p:nvSpPr>
          <p:cNvPr id="5" name="Oval 4"/>
          <p:cNvSpPr/>
          <p:nvPr/>
        </p:nvSpPr>
        <p:spPr>
          <a:xfrm>
            <a:off x="1005840" y="1234440"/>
            <a:ext cx="566928" cy="566928"/>
          </a:xfrm>
          <a:prstGeom prst="ellipse">
            <a:avLst/>
          </a:prstGeom>
          <a:solidFill>
            <a:srgbClr val="BE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500" b="1">
                <a:solidFill>
                  <a:srgbClr val="FFFFFF"/>
                </a:solidFill>
                <a:latin typeface="Arial"/>
              </a:defRPr>
            </a:pPr>
            <a:r>
              <a:t>01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828800" y="1252728"/>
            <a:ext cx="1828800" cy="320040"/>
          </a:xfrm>
          <a:prstGeom prst="rect">
            <a:avLst/>
          </a:prstGeom>
          <a:noFill/>
        </p:spPr>
        <p:txBody>
          <a:bodyPr wrap="square" lIns="73152" rIns="73152">
            <a:spAutoFit/>
          </a:bodyPr>
          <a:lstStyle/>
          <a:p>
            <a:pPr algn="l">
              <a:defRPr sz="1900" b="1">
                <a:solidFill>
                  <a:srgbClr val="0052A0"/>
                </a:solidFill>
                <a:latin typeface="Arial"/>
              </a:defRPr>
            </a:pPr>
            <a:r>
              <a:t>Search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657600" y="1252728"/>
            <a:ext cx="7498079" cy="502920"/>
          </a:xfrm>
          <a:prstGeom prst="rect">
            <a:avLst/>
          </a:prstGeom>
          <a:noFill/>
        </p:spPr>
        <p:txBody>
          <a:bodyPr wrap="square" lIns="73152" rIns="73152">
            <a:spAutoFit/>
          </a:bodyPr>
          <a:lstStyle/>
          <a:p>
            <a:pPr algn="l">
              <a:defRPr sz="1700" b="0">
                <a:solidFill>
                  <a:srgbClr val="232323"/>
                </a:solidFill>
                <a:latin typeface="Arial"/>
              </a:defRPr>
            </a:pPr>
            <a:r>
              <a:t>Enter a topic or choose a discipline / subject filter.</a:t>
            </a:r>
          </a:p>
        </p:txBody>
      </p:sp>
      <p:sp>
        <p:nvSpPr>
          <p:cNvPr id="8" name="Oval 7"/>
          <p:cNvSpPr/>
          <p:nvPr/>
        </p:nvSpPr>
        <p:spPr>
          <a:xfrm>
            <a:off x="1005840" y="2221992"/>
            <a:ext cx="566928" cy="566928"/>
          </a:xfrm>
          <a:prstGeom prst="ellipse">
            <a:avLst/>
          </a:prstGeom>
          <a:solidFill>
            <a:srgbClr val="BE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500" b="1">
                <a:solidFill>
                  <a:srgbClr val="FFFFFF"/>
                </a:solidFill>
                <a:latin typeface="Arial"/>
              </a:defRPr>
            </a:pPr>
            <a:r>
              <a:t>02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828800" y="2240280"/>
            <a:ext cx="1828800" cy="320040"/>
          </a:xfrm>
          <a:prstGeom prst="rect">
            <a:avLst/>
          </a:prstGeom>
          <a:noFill/>
        </p:spPr>
        <p:txBody>
          <a:bodyPr wrap="square" lIns="73152" rIns="73152">
            <a:spAutoFit/>
          </a:bodyPr>
          <a:lstStyle/>
          <a:p>
            <a:pPr algn="l">
              <a:defRPr sz="1900" b="1">
                <a:solidFill>
                  <a:srgbClr val="0052A0"/>
                </a:solidFill>
                <a:latin typeface="Arial"/>
              </a:defRPr>
            </a:pPr>
            <a:r>
              <a:t>Select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657600" y="2240280"/>
            <a:ext cx="7498079" cy="502920"/>
          </a:xfrm>
          <a:prstGeom prst="rect">
            <a:avLst/>
          </a:prstGeom>
          <a:noFill/>
        </p:spPr>
        <p:txBody>
          <a:bodyPr wrap="square" lIns="73152" rIns="73152">
            <a:spAutoFit/>
          </a:bodyPr>
          <a:lstStyle/>
          <a:p>
            <a:pPr algn="l">
              <a:defRPr sz="1700" b="0">
                <a:solidFill>
                  <a:srgbClr val="232323"/>
                </a:solidFill>
                <a:latin typeface="Arial"/>
              </a:defRPr>
            </a:pPr>
            <a:r>
              <a:t>Choose a lecture or playlist relevant to the topic.</a:t>
            </a:r>
          </a:p>
        </p:txBody>
      </p:sp>
      <p:sp>
        <p:nvSpPr>
          <p:cNvPr id="11" name="Oval 10"/>
          <p:cNvSpPr/>
          <p:nvPr/>
        </p:nvSpPr>
        <p:spPr>
          <a:xfrm>
            <a:off x="1005840" y="3209544"/>
            <a:ext cx="566928" cy="566928"/>
          </a:xfrm>
          <a:prstGeom prst="ellipse">
            <a:avLst/>
          </a:prstGeom>
          <a:solidFill>
            <a:srgbClr val="BE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500" b="1">
                <a:solidFill>
                  <a:srgbClr val="FFFFFF"/>
                </a:solidFill>
                <a:latin typeface="Arial"/>
              </a:defRPr>
            </a:pPr>
            <a:r>
              <a:t>03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828800" y="3227832"/>
            <a:ext cx="1828800" cy="320040"/>
          </a:xfrm>
          <a:prstGeom prst="rect">
            <a:avLst/>
          </a:prstGeom>
          <a:noFill/>
        </p:spPr>
        <p:txBody>
          <a:bodyPr wrap="square" lIns="73152" rIns="73152">
            <a:spAutoFit/>
          </a:bodyPr>
          <a:lstStyle/>
          <a:p>
            <a:pPr algn="l">
              <a:defRPr sz="1900" b="1">
                <a:solidFill>
                  <a:srgbClr val="0052A0"/>
                </a:solidFill>
                <a:latin typeface="Arial"/>
              </a:defRPr>
            </a:pPr>
            <a:r>
              <a:t>Focus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657600" y="3227832"/>
            <a:ext cx="7498079" cy="502920"/>
          </a:xfrm>
          <a:prstGeom prst="rect">
            <a:avLst/>
          </a:prstGeom>
          <a:noFill/>
        </p:spPr>
        <p:txBody>
          <a:bodyPr wrap="square" lIns="73152" rIns="73152">
            <a:spAutoFit/>
          </a:bodyPr>
          <a:lstStyle/>
          <a:p>
            <a:pPr algn="l">
              <a:defRPr sz="1700" b="0">
                <a:solidFill>
                  <a:srgbClr val="232323"/>
                </a:solidFill>
                <a:latin typeface="Arial"/>
              </a:defRPr>
            </a:pPr>
            <a:r>
              <a:t>Open the Focus Player and start a study session.</a:t>
            </a:r>
          </a:p>
        </p:txBody>
      </p:sp>
      <p:sp>
        <p:nvSpPr>
          <p:cNvPr id="14" name="Oval 13"/>
          <p:cNvSpPr/>
          <p:nvPr/>
        </p:nvSpPr>
        <p:spPr>
          <a:xfrm>
            <a:off x="1005840" y="4197096"/>
            <a:ext cx="566928" cy="566928"/>
          </a:xfrm>
          <a:prstGeom prst="ellipse">
            <a:avLst/>
          </a:prstGeom>
          <a:solidFill>
            <a:srgbClr val="BE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500" b="1">
                <a:solidFill>
                  <a:srgbClr val="FFFFFF"/>
                </a:solidFill>
                <a:latin typeface="Arial"/>
              </a:defRPr>
            </a:pPr>
            <a:r>
              <a:t>04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828800" y="4215383"/>
            <a:ext cx="1828800" cy="320040"/>
          </a:xfrm>
          <a:prstGeom prst="rect">
            <a:avLst/>
          </a:prstGeom>
          <a:noFill/>
        </p:spPr>
        <p:txBody>
          <a:bodyPr wrap="square" lIns="73152" rIns="73152">
            <a:spAutoFit/>
          </a:bodyPr>
          <a:lstStyle/>
          <a:p>
            <a:pPr algn="l">
              <a:defRPr sz="1900" b="1">
                <a:solidFill>
                  <a:srgbClr val="0052A0"/>
                </a:solidFill>
                <a:latin typeface="Arial"/>
              </a:defRPr>
            </a:pPr>
            <a:r>
              <a:t>Record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657600" y="4215383"/>
            <a:ext cx="7498079" cy="502920"/>
          </a:xfrm>
          <a:prstGeom prst="rect">
            <a:avLst/>
          </a:prstGeom>
          <a:noFill/>
        </p:spPr>
        <p:txBody>
          <a:bodyPr wrap="square" lIns="73152" rIns="73152">
            <a:spAutoFit/>
          </a:bodyPr>
          <a:lstStyle/>
          <a:p>
            <a:pPr algn="l">
              <a:defRPr sz="1700" b="0">
                <a:solidFill>
                  <a:srgbClr val="232323"/>
                </a:solidFill>
                <a:latin typeface="Arial"/>
              </a:defRPr>
            </a:pPr>
            <a:r>
              <a:t>Write notes and add timestamps for important moments.</a:t>
            </a:r>
          </a:p>
        </p:txBody>
      </p:sp>
      <p:sp>
        <p:nvSpPr>
          <p:cNvPr id="17" name="Oval 16"/>
          <p:cNvSpPr/>
          <p:nvPr/>
        </p:nvSpPr>
        <p:spPr>
          <a:xfrm>
            <a:off x="1005840" y="5184648"/>
            <a:ext cx="566928" cy="566928"/>
          </a:xfrm>
          <a:prstGeom prst="ellipse">
            <a:avLst/>
          </a:prstGeom>
          <a:solidFill>
            <a:srgbClr val="BE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500" b="1">
                <a:solidFill>
                  <a:srgbClr val="FFFFFF"/>
                </a:solidFill>
                <a:latin typeface="Arial"/>
              </a:defRPr>
            </a:pPr>
            <a:r>
              <a:t>05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828800" y="5202936"/>
            <a:ext cx="1828800" cy="320040"/>
          </a:xfrm>
          <a:prstGeom prst="rect">
            <a:avLst/>
          </a:prstGeom>
          <a:noFill/>
        </p:spPr>
        <p:txBody>
          <a:bodyPr wrap="square" lIns="73152" rIns="73152">
            <a:spAutoFit/>
          </a:bodyPr>
          <a:lstStyle/>
          <a:p>
            <a:pPr algn="l">
              <a:defRPr sz="1900" b="1">
                <a:solidFill>
                  <a:srgbClr val="0052A0"/>
                </a:solidFill>
                <a:latin typeface="Arial"/>
              </a:defRPr>
            </a:pPr>
            <a:r>
              <a:t>Review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3657600" y="5202936"/>
            <a:ext cx="7498079" cy="502920"/>
          </a:xfrm>
          <a:prstGeom prst="rect">
            <a:avLst/>
          </a:prstGeom>
          <a:noFill/>
        </p:spPr>
        <p:txBody>
          <a:bodyPr wrap="square" lIns="73152" rIns="73152">
            <a:spAutoFit/>
          </a:bodyPr>
          <a:lstStyle/>
          <a:p>
            <a:pPr algn="l">
              <a:defRPr sz="1700" b="0">
                <a:solidFill>
                  <a:srgbClr val="232323"/>
                </a:solidFill>
                <a:latin typeface="Arial"/>
              </a:defRPr>
            </a:pPr>
            <a:r>
              <a:t>Return to saved notes and recently watched lectures.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1417320" y="256032"/>
            <a:ext cx="10287000" cy="621792"/>
          </a:xfrm>
          <a:prstGeom prst="rect">
            <a:avLst/>
          </a:prstGeom>
          <a:solidFill>
            <a:srgbClr val="BE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2700" b="1">
                <a:solidFill>
                  <a:srgbClr val="FFFFFF"/>
                </a:solidFill>
                <a:latin typeface="Georgia"/>
              </a:defRPr>
            </a:pPr>
            <a:r>
              <a:t>Benefits of FocusTube</a:t>
            </a:r>
          </a:p>
        </p:txBody>
      </p:sp>
      <p:sp>
        <p:nvSpPr>
          <p:cNvPr id="3" name="Oval 2"/>
          <p:cNvSpPr/>
          <p:nvPr/>
        </p:nvSpPr>
        <p:spPr>
          <a:xfrm>
            <a:off x="228600" y="219456"/>
            <a:ext cx="841248" cy="841248"/>
          </a:xfrm>
          <a:prstGeom prst="ellipse">
            <a:avLst/>
          </a:prstGeom>
          <a:solidFill>
            <a:srgbClr val="FFFFFF"/>
          </a:solidFill>
          <a:ln w="25400">
            <a:solidFill>
              <a:srgbClr val="BE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2200" b="1">
                <a:solidFill>
                  <a:srgbClr val="BE0000"/>
                </a:solidFill>
                <a:latin typeface="Arial"/>
              </a:defRPr>
            </a:pPr>
            <a:r>
              <a:t>FT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6601968"/>
            <a:ext cx="12191695" cy="256032"/>
          </a:xfrm>
          <a:prstGeom prst="rect">
            <a:avLst/>
          </a:prstGeom>
          <a:solidFill>
            <a:srgbClr val="BE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000" b="1">
                <a:solidFill>
                  <a:srgbClr val="FFFFFF"/>
                </a:solidFill>
                <a:latin typeface="Arial"/>
              </a:defRPr>
            </a:pPr>
            <a:r>
              <a:t>SKIT, JAIPUR                                                                                                             FocusTube  |  13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645920" y="1234440"/>
            <a:ext cx="9966960" cy="4983480"/>
          </a:xfrm>
          <a:prstGeom prst="rect">
            <a:avLst/>
          </a:prstGeom>
          <a:noFill/>
        </p:spPr>
        <p:txBody>
          <a:bodyPr wrap="square" lIns="109728" rIns="109728">
            <a:spAutoFit/>
          </a:bodyPr>
          <a:lstStyle/>
          <a:p>
            <a:pPr>
              <a:spcAft>
                <a:spcPts val="1400"/>
              </a:spcAft>
              <a:defRPr sz="2100">
                <a:solidFill>
                  <a:srgbClr val="232323"/>
                </a:solidFill>
                <a:latin typeface="Arial"/>
              </a:defRPr>
            </a:pPr>
            <a:r>
              <a:t>Keeps lecture discovery and study utilities together.</a:t>
            </a:r>
          </a:p>
          <a:p>
            <a:pPr>
              <a:spcAft>
                <a:spcPts val="1400"/>
              </a:spcAft>
              <a:defRPr sz="2100">
                <a:solidFill>
                  <a:srgbClr val="232323"/>
                </a:solidFill>
                <a:latin typeface="Arial"/>
              </a:defRPr>
            </a:pPr>
            <a:r>
              <a:t>Provides quick access to engineering topics and popular educational channels.</a:t>
            </a:r>
          </a:p>
          <a:p>
            <a:pPr>
              <a:spcAft>
                <a:spcPts val="1400"/>
              </a:spcAft>
              <a:defRPr sz="2100">
                <a:solidFill>
                  <a:srgbClr val="232323"/>
                </a:solidFill>
                <a:latin typeface="Arial"/>
              </a:defRPr>
            </a:pPr>
            <a:r>
              <a:t>Encourages structured study using Pomodoro sessions.</a:t>
            </a:r>
          </a:p>
          <a:p>
            <a:pPr>
              <a:spcAft>
                <a:spcPts val="1400"/>
              </a:spcAft>
              <a:defRPr sz="2100">
                <a:solidFill>
                  <a:srgbClr val="232323"/>
                </a:solidFill>
                <a:latin typeface="Arial"/>
              </a:defRPr>
            </a:pPr>
            <a:r>
              <a:t>Makes it easier to save and revisit key lecture points.</a:t>
            </a:r>
          </a:p>
          <a:p>
            <a:pPr>
              <a:spcAft>
                <a:spcPts val="1400"/>
              </a:spcAft>
              <a:defRPr sz="2100">
                <a:solidFill>
                  <a:srgbClr val="232323"/>
                </a:solidFill>
                <a:latin typeface="Arial"/>
              </a:defRPr>
            </a:pPr>
            <a:r>
              <a:t>Supports revision through searchable and exportable notes.</a:t>
            </a:r>
          </a:p>
          <a:p>
            <a:pPr>
              <a:spcAft>
                <a:spcPts val="1400"/>
              </a:spcAft>
              <a:defRPr sz="2100">
                <a:solidFill>
                  <a:srgbClr val="232323"/>
                </a:solidFill>
                <a:latin typeface="Arial"/>
              </a:defRPr>
            </a:pPr>
            <a:r>
              <a:t>Offers a cleaner learning experience focused on educational content.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1417320" y="256032"/>
            <a:ext cx="10287000" cy="621792"/>
          </a:xfrm>
          <a:prstGeom prst="rect">
            <a:avLst/>
          </a:prstGeom>
          <a:solidFill>
            <a:srgbClr val="BE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2700" b="1">
                <a:solidFill>
                  <a:srgbClr val="FFFFFF"/>
                </a:solidFill>
                <a:latin typeface="Georgia"/>
              </a:defRPr>
            </a:pPr>
            <a:r>
              <a:t>Future Scope</a:t>
            </a:r>
          </a:p>
        </p:txBody>
      </p:sp>
      <p:sp>
        <p:nvSpPr>
          <p:cNvPr id="3" name="Oval 2"/>
          <p:cNvSpPr/>
          <p:nvPr/>
        </p:nvSpPr>
        <p:spPr>
          <a:xfrm>
            <a:off x="228600" y="219456"/>
            <a:ext cx="841248" cy="841248"/>
          </a:xfrm>
          <a:prstGeom prst="ellipse">
            <a:avLst/>
          </a:prstGeom>
          <a:solidFill>
            <a:srgbClr val="FFFFFF"/>
          </a:solidFill>
          <a:ln w="25400">
            <a:solidFill>
              <a:srgbClr val="BE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2200" b="1">
                <a:solidFill>
                  <a:srgbClr val="BE0000"/>
                </a:solidFill>
                <a:latin typeface="Arial"/>
              </a:defRPr>
            </a:pPr>
            <a:r>
              <a:t>FT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6601968"/>
            <a:ext cx="12191695" cy="256032"/>
          </a:xfrm>
          <a:prstGeom prst="rect">
            <a:avLst/>
          </a:prstGeom>
          <a:solidFill>
            <a:srgbClr val="BE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000" b="1">
                <a:solidFill>
                  <a:srgbClr val="FFFFFF"/>
                </a:solidFill>
                <a:latin typeface="Arial"/>
              </a:defRPr>
            </a:pPr>
            <a:r>
              <a:t>SKIT, JAIPUR                                                                                                             FocusTube  |  14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645920" y="1234440"/>
            <a:ext cx="9966960" cy="4983480"/>
          </a:xfrm>
          <a:prstGeom prst="rect">
            <a:avLst/>
          </a:prstGeom>
          <a:noFill/>
        </p:spPr>
        <p:txBody>
          <a:bodyPr wrap="square" lIns="109728" rIns="109728">
            <a:spAutoFit/>
          </a:bodyPr>
          <a:lstStyle/>
          <a:p>
            <a:pPr>
              <a:spcAft>
                <a:spcPts val="1400"/>
              </a:spcAft>
              <a:defRPr sz="2000">
                <a:solidFill>
                  <a:srgbClr val="232323"/>
                </a:solidFill>
                <a:latin typeface="Arial"/>
              </a:defRPr>
            </a:pPr>
            <a:r>
              <a:t>Add personalized recommendations based on subjects and learning goals.</a:t>
            </a:r>
          </a:p>
          <a:p>
            <a:pPr>
              <a:spcAft>
                <a:spcPts val="1400"/>
              </a:spcAft>
              <a:defRPr sz="2000">
                <a:solidFill>
                  <a:srgbClr val="232323"/>
                </a:solidFill>
                <a:latin typeface="Arial"/>
              </a:defRPr>
            </a:pPr>
            <a:r>
              <a:t>Improve playlist management with folders, tags, and progress tracking.</a:t>
            </a:r>
          </a:p>
          <a:p>
            <a:pPr>
              <a:spcAft>
                <a:spcPts val="1400"/>
              </a:spcAft>
              <a:defRPr sz="2000">
                <a:solidFill>
                  <a:srgbClr val="232323"/>
                </a:solidFill>
                <a:latin typeface="Arial"/>
              </a:defRPr>
            </a:pPr>
            <a:r>
              <a:t>Introduce cloud synchronization for notes across devices.</a:t>
            </a:r>
          </a:p>
          <a:p>
            <a:pPr>
              <a:spcAft>
                <a:spcPts val="1400"/>
              </a:spcAft>
              <a:defRPr sz="2000">
                <a:solidFill>
                  <a:srgbClr val="232323"/>
                </a:solidFill>
                <a:latin typeface="Arial"/>
              </a:defRPr>
            </a:pPr>
            <a:r>
              <a:t>Add reminders, study streaks, and weekly productivity reports.</a:t>
            </a:r>
          </a:p>
          <a:p>
            <a:pPr>
              <a:spcAft>
                <a:spcPts val="1400"/>
              </a:spcAft>
              <a:defRPr sz="2000">
                <a:solidFill>
                  <a:srgbClr val="232323"/>
                </a:solidFill>
                <a:latin typeface="Arial"/>
              </a:defRPr>
            </a:pPr>
            <a:r>
              <a:t>Improve accessibility and mobile responsiveness.</a:t>
            </a:r>
          </a:p>
          <a:p>
            <a:pPr>
              <a:spcAft>
                <a:spcPts val="1400"/>
              </a:spcAft>
              <a:defRPr sz="2000">
                <a:solidFill>
                  <a:srgbClr val="232323"/>
                </a:solidFill>
                <a:latin typeface="Arial"/>
              </a:defRPr>
            </a:pPr>
            <a:r>
              <a:t>Expand testing, deployment monitoring, and user feedback features.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1417320" y="256032"/>
            <a:ext cx="10287000" cy="621792"/>
          </a:xfrm>
          <a:prstGeom prst="rect">
            <a:avLst/>
          </a:prstGeom>
          <a:solidFill>
            <a:srgbClr val="BE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2700" b="1">
                <a:solidFill>
                  <a:srgbClr val="FFFFFF"/>
                </a:solidFill>
                <a:latin typeface="Georgia"/>
              </a:defRPr>
            </a:pPr>
            <a:r>
              <a:t>Conclusion</a:t>
            </a:r>
          </a:p>
        </p:txBody>
      </p:sp>
      <p:sp>
        <p:nvSpPr>
          <p:cNvPr id="3" name="Oval 2"/>
          <p:cNvSpPr/>
          <p:nvPr/>
        </p:nvSpPr>
        <p:spPr>
          <a:xfrm>
            <a:off x="228600" y="219456"/>
            <a:ext cx="841248" cy="841248"/>
          </a:xfrm>
          <a:prstGeom prst="ellipse">
            <a:avLst/>
          </a:prstGeom>
          <a:solidFill>
            <a:srgbClr val="FFFFFF"/>
          </a:solidFill>
          <a:ln w="25400">
            <a:solidFill>
              <a:srgbClr val="BE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2200" b="1">
                <a:solidFill>
                  <a:srgbClr val="BE0000"/>
                </a:solidFill>
                <a:latin typeface="Arial"/>
              </a:defRPr>
            </a:pPr>
            <a:r>
              <a:t>FT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6601968"/>
            <a:ext cx="12191695" cy="256032"/>
          </a:xfrm>
          <a:prstGeom prst="rect">
            <a:avLst/>
          </a:prstGeom>
          <a:solidFill>
            <a:srgbClr val="BE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000" b="1">
                <a:solidFill>
                  <a:srgbClr val="FFFFFF"/>
                </a:solidFill>
                <a:latin typeface="Arial"/>
              </a:defRPr>
            </a:pPr>
            <a:r>
              <a:t>SKIT, JAIPUR                                                                                                             FocusTube  |  15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371600" y="1508760"/>
            <a:ext cx="9418320" cy="1234440"/>
          </a:xfrm>
          <a:prstGeom prst="rect">
            <a:avLst/>
          </a:prstGeom>
          <a:noFill/>
        </p:spPr>
        <p:txBody>
          <a:bodyPr wrap="square" lIns="73152" rIns="73152">
            <a:spAutoFit/>
          </a:bodyPr>
          <a:lstStyle/>
          <a:p>
            <a:pPr algn="ctr">
              <a:defRPr sz="2600" b="1">
                <a:solidFill>
                  <a:srgbClr val="232323"/>
                </a:solidFill>
                <a:latin typeface="Georgia"/>
              </a:defRPr>
            </a:pPr>
            <a:r>
              <a:t>FocusTube combines educational video discovery with practical study tools to help engineering students learn with fewer distractions.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828800" y="3246120"/>
            <a:ext cx="8778240" cy="2194560"/>
          </a:xfrm>
          <a:prstGeom prst="rect">
            <a:avLst/>
          </a:prstGeom>
          <a:noFill/>
        </p:spPr>
        <p:txBody>
          <a:bodyPr wrap="square" lIns="109728" rIns="109728">
            <a:spAutoFit/>
          </a:bodyPr>
          <a:lstStyle/>
          <a:p>
            <a:pPr>
              <a:spcAft>
                <a:spcPts val="1400"/>
              </a:spcAft>
              <a:defRPr sz="2100">
                <a:solidFill>
                  <a:srgbClr val="232323"/>
                </a:solidFill>
                <a:latin typeface="Arial"/>
              </a:defRPr>
            </a:pPr>
            <a:r>
              <a:t>MERN-based full-stack project concept.</a:t>
            </a:r>
          </a:p>
          <a:p>
            <a:pPr>
              <a:spcAft>
                <a:spcPts val="1400"/>
              </a:spcAft>
              <a:defRPr sz="2100">
                <a:solidFill>
                  <a:srgbClr val="232323"/>
                </a:solidFill>
                <a:latin typeface="Arial"/>
              </a:defRPr>
            </a:pPr>
            <a:r>
              <a:t>Lecture search, Focus Player, Pomodoro timer, and study notes.</a:t>
            </a:r>
          </a:p>
          <a:p>
            <a:pPr>
              <a:spcAft>
                <a:spcPts val="1400"/>
              </a:spcAft>
              <a:defRPr sz="2100">
                <a:solidFill>
                  <a:srgbClr val="232323"/>
                </a:solidFill>
                <a:latin typeface="Arial"/>
              </a:defRPr>
            </a:pPr>
            <a:r>
              <a:t>A foundation that can be extended with personalization and progress tracking.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640080" y="411480"/>
            <a:ext cx="10927080" cy="502920"/>
          </a:xfrm>
          <a:prstGeom prst="rect">
            <a:avLst/>
          </a:prstGeom>
          <a:solidFill>
            <a:srgbClr val="BE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2500" b="1">
                <a:solidFill>
                  <a:srgbClr val="FFFFFF"/>
                </a:solidFill>
                <a:latin typeface="Georgia"/>
              </a:defRPr>
            </a:pPr>
            <a:r>
              <a:t>Questions &amp; Answers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828800" y="1828800"/>
            <a:ext cx="8503920" cy="914400"/>
          </a:xfrm>
          <a:prstGeom prst="rect">
            <a:avLst/>
          </a:prstGeom>
          <a:noFill/>
        </p:spPr>
        <p:txBody>
          <a:bodyPr wrap="square" lIns="73152" rIns="73152">
            <a:spAutoFit/>
          </a:bodyPr>
          <a:lstStyle/>
          <a:p>
            <a:pPr algn="ctr">
              <a:defRPr sz="4200" b="1">
                <a:solidFill>
                  <a:srgbClr val="0052A0"/>
                </a:solidFill>
                <a:latin typeface="Georgia"/>
              </a:defRPr>
            </a:pPr>
            <a:r>
              <a:t>Thank You!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828800" y="2834640"/>
            <a:ext cx="8503920" cy="502920"/>
          </a:xfrm>
          <a:prstGeom prst="rect">
            <a:avLst/>
          </a:prstGeom>
          <a:noFill/>
        </p:spPr>
        <p:txBody>
          <a:bodyPr wrap="square" lIns="73152" rIns="73152">
            <a:spAutoFit/>
          </a:bodyPr>
          <a:lstStyle/>
          <a:p>
            <a:pPr algn="ctr">
              <a:defRPr sz="2200" b="0">
                <a:solidFill>
                  <a:srgbClr val="232323"/>
                </a:solidFill>
                <a:latin typeface="Arial"/>
              </a:defRPr>
            </a:pPr>
            <a:r>
              <a:t>FocusTube – Industrial Training Presentation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828800" y="3703320"/>
            <a:ext cx="8503920" cy="411480"/>
          </a:xfrm>
          <a:prstGeom prst="rect">
            <a:avLst/>
          </a:prstGeom>
          <a:noFill/>
        </p:spPr>
        <p:txBody>
          <a:bodyPr wrap="square" lIns="73152" rIns="73152">
            <a:spAutoFit/>
          </a:bodyPr>
          <a:lstStyle/>
          <a:p>
            <a:pPr algn="ctr">
              <a:defRPr sz="1900" b="1">
                <a:solidFill>
                  <a:srgbClr val="232323"/>
                </a:solidFill>
                <a:latin typeface="Arial"/>
              </a:defRPr>
            </a:pPr>
            <a:r>
              <a:t>Presented by Kushagra Rathore  |  Roll No. 24ESKCS187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6601968"/>
            <a:ext cx="12191695" cy="256032"/>
          </a:xfrm>
          <a:prstGeom prst="rect">
            <a:avLst/>
          </a:prstGeom>
          <a:solidFill>
            <a:srgbClr val="BE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000" b="1">
                <a:solidFill>
                  <a:srgbClr val="FFFFFF"/>
                </a:solidFill>
                <a:latin typeface="Arial"/>
              </a:defRPr>
            </a:pPr>
            <a:r>
              <a:t>SKIT, JAIPUR                                                                                                             FocusTube  |  16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1417320" y="256032"/>
            <a:ext cx="10287000" cy="621792"/>
          </a:xfrm>
          <a:prstGeom prst="rect">
            <a:avLst/>
          </a:prstGeom>
          <a:solidFill>
            <a:srgbClr val="BE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2700" b="1">
                <a:solidFill>
                  <a:srgbClr val="FFFFFF"/>
                </a:solidFill>
                <a:latin typeface="Georgia"/>
              </a:defRPr>
            </a:pPr>
            <a:r>
              <a:t>Company Overview</a:t>
            </a:r>
          </a:p>
        </p:txBody>
      </p:sp>
      <p:sp>
        <p:nvSpPr>
          <p:cNvPr id="3" name="Oval 2"/>
          <p:cNvSpPr/>
          <p:nvPr/>
        </p:nvSpPr>
        <p:spPr>
          <a:xfrm>
            <a:off x="228600" y="219456"/>
            <a:ext cx="841248" cy="841248"/>
          </a:xfrm>
          <a:prstGeom prst="ellipse">
            <a:avLst/>
          </a:prstGeom>
          <a:solidFill>
            <a:srgbClr val="FFFFFF"/>
          </a:solidFill>
          <a:ln w="25400">
            <a:solidFill>
              <a:srgbClr val="BE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2200" b="1">
                <a:solidFill>
                  <a:srgbClr val="BE0000"/>
                </a:solidFill>
                <a:latin typeface="Arial"/>
              </a:defRPr>
            </a:pPr>
            <a:r>
              <a:t>FT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600200" y="1325880"/>
            <a:ext cx="9966960" cy="3154680"/>
          </a:xfrm>
          <a:prstGeom prst="rect">
            <a:avLst/>
          </a:prstGeom>
          <a:noFill/>
        </p:spPr>
        <p:txBody>
          <a:bodyPr wrap="square" lIns="73152" rIns="73152">
            <a:spAutoFit/>
          </a:bodyPr>
          <a:lstStyle/>
          <a:p>
            <a:pPr>
              <a:spcAft>
                <a:spcPts val="1500"/>
              </a:spcAft>
              <a:defRPr sz="2500" b="1">
                <a:solidFill>
                  <a:srgbClr val="0052A0"/>
                </a:solidFill>
                <a:latin typeface="Arial"/>
              </a:defRPr>
            </a:pPr>
            <a:r>
              <a:t>Enexa IT Solutions Private Limited</a:t>
            </a:r>
          </a:p>
          <a:p>
            <a:pPr>
              <a:spcAft>
                <a:spcPts val="1400"/>
              </a:spcAft>
              <a:defRPr sz="2000">
                <a:solidFill>
                  <a:srgbClr val="232323"/>
                </a:solidFill>
                <a:latin typeface="Arial"/>
              </a:defRPr>
            </a:pPr>
            <a:r>
              <a:t>According to the internship certificate, Enexa IT Solutions Private Limited conducted a 45-day internship programme in Software Development for Kushagra Rathore.</a:t>
            </a:r>
          </a:p>
          <a:p>
            <a:pPr>
              <a:spcAft>
                <a:spcPts val="1000"/>
              </a:spcAft>
              <a:defRPr sz="2000" b="1">
                <a:solidFill>
                  <a:srgbClr val="232323"/>
                </a:solidFill>
                <a:latin typeface="Arial"/>
              </a:defRPr>
            </a:pPr>
            <a:r>
              <a:t>Internship Period: 15 May – 30 June 2026</a:t>
            </a:r>
          </a:p>
          <a:p>
            <a:pPr>
              <a:spcAft>
                <a:spcPts val="1000"/>
              </a:spcAft>
              <a:defRPr sz="1900">
                <a:solidFill>
                  <a:srgbClr val="232323"/>
                </a:solidFill>
                <a:latin typeface="Arial"/>
              </a:defRPr>
            </a:pPr>
            <a:r>
              <a:t>Certificate Issue Date: 30 June 2026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1645920" y="4709160"/>
            <a:ext cx="9098280" cy="1234440"/>
          </a:xfrm>
          <a:prstGeom prst="roundRect">
            <a:avLst/>
          </a:prstGeom>
          <a:solidFill>
            <a:srgbClr val="F7F8FA"/>
          </a:solidFill>
          <a:ln>
            <a:solidFill>
              <a:srgbClr val="D7D7D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201168" rIns="201168"/>
          <a:lstStyle/>
          <a:p>
            <a:pPr algn="ctr">
              <a:spcAft>
                <a:spcPts val="600"/>
              </a:spcAft>
              <a:defRPr sz="2000" b="1">
                <a:solidFill>
                  <a:srgbClr val="0052A0"/>
                </a:solidFill>
                <a:latin typeface="Arial"/>
              </a:defRPr>
            </a:pPr>
            <a:r>
              <a:t>Internship Domain: Software Development</a:t>
            </a:r>
          </a:p>
          <a:p>
            <a:pPr>
              <a:defRPr sz="1800">
                <a:solidFill>
                  <a:srgbClr val="232323"/>
                </a:solidFill>
                <a:latin typeface="Arial"/>
              </a:defRPr>
            </a:pPr>
            <a:r>
              <a:t>Certificate signed by Lov Prakash, Director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6601968"/>
            <a:ext cx="12191695" cy="256032"/>
          </a:xfrm>
          <a:prstGeom prst="rect">
            <a:avLst/>
          </a:prstGeom>
          <a:solidFill>
            <a:srgbClr val="BE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000" b="1">
                <a:solidFill>
                  <a:srgbClr val="FFFFFF"/>
                </a:solidFill>
                <a:latin typeface="Arial"/>
              </a:defRPr>
            </a:pPr>
            <a:r>
              <a:t>SKIT, JAIPUR                                                                                                             FocusTube  |  Company Overview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